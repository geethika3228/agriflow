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68de9092-993b-c485-c4e1-dfbe415a4e8a}">
          <p14:sldIdLst>
            <p14:sldId id="256"/>
            <p14:sldId id="257"/>
          </p14:sldIdLst>
        </p14:section>
        <p14:section name="Why" id="{b5cac138-b167-3d92-cfe8-577fab859c27}">
          <p14:sldIdLst>
            <p14:sldId id="258"/>
          </p14:sldIdLst>
        </p14:section>
        <p14:section name="Modules" id="{1a1ba132-d330-bd5c-5e33-df870d43d012}">
          <p14:sldIdLst>
            <p14:sldId id="259"/>
            <p14:sldId id="260"/>
            <p14:sldId id="261"/>
            <p14:sldId id="262"/>
            <p14:sldId id="263"/>
            <p14:sldId id="264"/>
          </p14:sldIdLst>
        </p14:section>
        <p14:section name="Flow" id="{0e2bcb42-9a46-1259-05e1-11780fa36f9a}">
          <p14:sldIdLst>
            <p14:sldId id="265"/>
            <p14:sldId id="266"/>
          </p14:sldIdLst>
        </p14:section>
        <p14:section name="Next" id="{8d2e1b6c-3187-eb1f-b587-ef07de9ff0e2}">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Our project is AgriFlow. It is a website where you can run advanced algorithms and watch them work, using farm data. In the next few minutes I will show what it is, why we built it, how each of the six syllabus modules is used, and then I will demo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AgriFlow is a farm-data web app. Every algorithm from our syllabus runs inside it. We have 15 farm records like crop, disease, soil and season. We have 31 interactive labs, one for each algorithm. Everything is in Java, and our engine is hand-built with no java.util. Each lab has a box that explains it in simple words. And we checked correctness with 54,614 random tests against slow brute-force answers, with zero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we build it? Three reasons. One: a textbook shows one frozen example, but here you click Run and watch the grid, graph or map fill in. Two: farm data fits naturally. Crops and diseases are text, farm sites are routes, and water pipes are networks, so every module gets a real job. Three: it is built by hand. Every line is ours, so we can explain how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is the foundation. Our engine uses only arrays and basic Java, and we wrote our own list and random number maker. We also added counters that tally comparisons, so Big-O becomes a real number you can see. And edit distance lets us find similar records even if someone makes a typo.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Farm records are mostly words, so string search comes first. KMP and Z never re-read letters they already matched. Aho-Corasick finds many words in one pass, like every disease name at once. And the suffix array with LCP finds repeated text. Aho-Corasick is also used in security tools to scan logs for attack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Dynamic programming means writing down answers so we never solve the same small puzzle twice. We use edit distance and alignment to compare text. We use Held-Karp to find the exact shortest route through the farm sites. And we use set cover and tree DP to choose smartly. Our coin demo also shows that greedy choices can look smart and still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pipes with different widths. Max-flow is the most water we can push through. The min-cut shows the bottleneck, the pipes holding everything back. Min-cost flow ships crops to markets at the lowest cost. And matching pairs workers with jobs, while project selection is solved as a min-cut.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problems are so hard that perfect answers take forever as inputs grow. The exact solvers in our app show where it starts to hurt. So we also use approximation: vertex cover and TSP get 2-approximations, and knapsack gets an FPTAS. These are answers that are provably close to perfect. For vertex cover, when the number k is small, we shrink the graph first and then search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Rolling dice can make algorithms safer. Randomised quicksort avoids the worst case, and Miller-Rabin tests big primes fast. Perfect hashing gives zero collisions, and reservoir sampling picks a fair sample from a stream. For parallel algorithms, we split work across CPU cores. To be honest, on small inputs threads can even be slower, and our lab shows that truthfully.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it works inside. You click Run in the browser. The server reads the web address and decides where it goes. The API classes pick the right algorithm. The algorithms, in hand-built Java, do the real work. Then the answer is packed as JSON and sent back, and the page only draws it. For example, the max-flow lab runs Dinic's algorithm and draws the pipe network with the cut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results, read straight from the running app. On a worst-case text, naive search made about 1.2 million comparisons and KMP about 40 thousand, roughly thirty times fewer. In the water network, max flow and min-cut both came to 26, exactly as the theorem says. For a route over 8 farms, the exact answer is 241.8, nearest neighbour is 14 percent longer, and the MST 2-approximation is 1.23 times optimal. And all of it was checked with 54,614 random tests, with zero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we would add next. These are plans, not finished features. Real datasets: upload a CSV of actual farm records. A step-by-step player to pause and rewind algorithms. Live feeds like weather and soil sensors. A security use-case, scanning logs with Aho-Corasick. Saving and comparing runs. And hosting it online with Docker so anyone can open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AgriFlow. Thank you. I would love to show you the live demo now. Pick any lab and I will run it. Good ones to start with: the KMP versus naive race, the max-flow min-cut picture, and the quicksort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768096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2468880"/>
            <a:ext cx="768096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7680960" cy="1188720"/>
          </a:xfrm>
          <a:prstGeom prst="rect">
            <a:avLst/>
          </a:prstGeom>
          <a:noFill/>
          <a:ln/>
        </p:spPr>
        <p:txBody>
          <a:bodyPr wrap="square" lIns="0" tIns="0" rIns="0" bIns="0" rtlCol="0" anchor="ctr"/>
          <a:lstStyle/>
          <a:p>
            <a:pPr algn="l" indent="0" marL="0">
              <a:buNone/>
            </a:pPr>
            <a:r>
              <a:rPr lang="en-US" sz="5400" b="1" dirty="0">
                <a:solidFill>
                  <a:schemeClr val="bg1"/>
                </a:solidFill>
              </a:rPr>
              <a:t>AgriFlow</a:t>
            </a:r>
            <a:endParaRPr lang="en-US" sz="5400" dirty="0"/>
          </a:p>
        </p:txBody>
      </p:sp>
      <p:sp>
        <p:nvSpPr>
          <p:cNvPr id="3" name="Text 0"/>
          <p:cNvSpPr/>
          <p:nvPr>
            <p:ph idx="101" type="body" hasCustomPrompt="1"/>
          </p:nvPr>
        </p:nvSpPr>
        <p:spPr>
          <a:xfrm>
            <a:off x="731520" y="2468880"/>
            <a:ext cx="7680960" cy="822960"/>
          </a:xfrm>
          <a:prstGeom prst="rect">
            <a:avLst/>
          </a:prstGeom>
          <a:noFill/>
          <a:ln/>
        </p:spPr>
        <p:txBody>
          <a:bodyPr wrap="square" lIns="0" tIns="0" rIns="0" bIns="0" rtlCol="0" anchor="t"/>
          <a:lstStyle/>
          <a:p>
            <a:pPr algn="l" indent="0" marL="0">
              <a:buNone/>
            </a:pPr>
            <a:r>
              <a:rPr lang="en-US" sz="2000" dirty="0">
                <a:solidFill>
                  <a:schemeClr val="bg2"/>
                </a:solidFill>
              </a:rPr>
              <a:t>Advanced algorithms, made interactive on a farm-data app</a:t>
            </a:r>
            <a:endParaRPr lang="en-US" sz="2000" dirty="0"/>
          </a:p>
        </p:txBody>
      </p:sp>
      <p:sp>
        <p:nvSpPr>
          <p:cNvPr id="4" name="Team IDs"/>
          <p:cNvSpPr txBox="1"/>
          <p:nvPr/>
        </p:nvSpPr>
        <p:spPr>
          <a:xfrm>
            <a:off x="731520" y="3017520"/>
            <a:ext cx="7680960" cy="320040"/>
          </a:xfrm>
          <a:prstGeom prst="rect">
            <a:avLst/>
          </a:prstGeom>
          <a:noFill/>
          <a:ln/>
        </p:spPr>
        <p:txBody>
          <a:bodyPr wrap="square" lIns="0" tIns="0" rIns="0" bIns="0" rtlCol="0" anchor="ctr"/>
          <a:lstStyle/>
          <a:p>
            <a:pPr indent="0" marL="0">
              <a:buNone/>
            </a:pPr>
            <a:r>
              <a:rPr lang="en-US" sz="1400" dirty="0">
                <a:solidFill>
                  <a:schemeClr val="bg2"/>
                </a:solidFill>
              </a:rPr>
              <a:t>2500030117  |  2500030142  |  2500032128  |  2500032215</a:t>
            </a:r>
            <a:endParaRPr lang="en-US" sz="1400" dirty="0"/>
          </a:p>
        </p:txBody>
      </p:sp>
      <p:sp>
        <p:nvSpPr>
          <p:cNvPr id="5" name="Guide"/>
          <p:cNvSpPr txBox="1"/>
          <p:nvPr/>
        </p:nvSpPr>
        <p:spPr>
          <a:xfrm>
            <a:off x="731520" y="3337560"/>
            <a:ext cx="7680960" cy="320040"/>
          </a:xfrm>
          <a:prstGeom prst="rect">
            <a:avLst/>
          </a:prstGeom>
          <a:noFill/>
          <a:ln/>
        </p:spPr>
        <p:txBody>
          <a:bodyPr wrap="square" lIns="0" tIns="0" rIns="0" bIns="0" rtlCol="0" anchor="ctr"/>
          <a:lstStyle/>
          <a:p>
            <a:pPr indent="0" marL="0">
              <a:buNone/>
            </a:pPr>
            <a:r>
              <a:rPr lang="en-US" sz="1400" dirty="0">
                <a:solidFill>
                  <a:schemeClr val="bg2"/>
                </a:solidFill>
              </a:rPr>
              <a:t>2nd year CSE  |  Guide: Dr. Maganti Syamala</a:t>
            </a:r>
            <a:endParaRPr lang="en-US" sz="1400" dirty="0"/>
          </a:p>
        </p:txBody>
      </p:sp>
      <p:sp>
        <p:nvSpPr>
          <p:cNvPr id="6" name="Module 1 badge"/>
          <p:cNvSpPr/>
          <p:nvPr/>
        </p:nvSpPr>
        <p:spPr>
          <a:xfrm>
            <a:off x="731520" y="3840480"/>
            <a:ext cx="640080" cy="640080"/>
          </a:xfrm>
          <a:prstGeom prst="ellipse">
            <a:avLst/>
          </a:prstGeom>
          <a:solidFill>
            <a:schemeClr val="accent1"/>
          </a:solidFill>
          <a:ln w="12700">
            <a:solidFill>
              <a:schemeClr val="accent1"/>
            </a:solidFill>
            <a:prstDash val="solid"/>
          </a:ln>
        </p:spPr>
      </p:sp>
      <p:sp>
        <p:nvSpPr>
          <p:cNvPr id="7" name="M1 label"/>
          <p:cNvSpPr txBox="1"/>
          <p:nvPr/>
        </p:nvSpPr>
        <p:spPr>
          <a:xfrm>
            <a:off x="731520" y="38404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M1</a:t>
            </a:r>
            <a:endParaRPr lang="en-US" sz="1600" dirty="0"/>
          </a:p>
        </p:txBody>
      </p:sp>
      <p:sp>
        <p:nvSpPr>
          <p:cNvPr id="8" name="Module 2 badge"/>
          <p:cNvSpPr/>
          <p:nvPr/>
        </p:nvSpPr>
        <p:spPr>
          <a:xfrm>
            <a:off x="1600200" y="3840480"/>
            <a:ext cx="640080" cy="640080"/>
          </a:xfrm>
          <a:prstGeom prst="ellipse">
            <a:avLst/>
          </a:prstGeom>
          <a:solidFill>
            <a:schemeClr val="accent2"/>
          </a:solidFill>
          <a:ln w="12700">
            <a:solidFill>
              <a:schemeClr val="accent2"/>
            </a:solidFill>
            <a:prstDash val="solid"/>
          </a:ln>
        </p:spPr>
      </p:sp>
      <p:sp>
        <p:nvSpPr>
          <p:cNvPr id="9" name="M2 label"/>
          <p:cNvSpPr txBox="1"/>
          <p:nvPr/>
        </p:nvSpPr>
        <p:spPr>
          <a:xfrm>
            <a:off x="1600200" y="3840480"/>
            <a:ext cx="640080" cy="640080"/>
          </a:xfrm>
          <a:prstGeom prst="rect">
            <a:avLst/>
          </a:prstGeom>
          <a:noFill/>
          <a:ln/>
        </p:spPr>
        <p:txBody>
          <a:bodyPr wrap="square" lIns="0" tIns="0" rIns="0" bIns="0" rtlCol="0" anchor="ctr"/>
          <a:lstStyle/>
          <a:p>
            <a:pPr algn="ctr" indent="0" marL="0">
              <a:buNone/>
            </a:pPr>
            <a:r>
              <a:rPr lang="en-US" sz="1600" b="1" dirty="0">
                <a:solidFill>
                  <a:schemeClr val="tx1"/>
                </a:solidFill>
              </a:rPr>
              <a:t>M2</a:t>
            </a:r>
            <a:endParaRPr lang="en-US" sz="1600" dirty="0"/>
          </a:p>
        </p:txBody>
      </p:sp>
      <p:sp>
        <p:nvSpPr>
          <p:cNvPr id="10" name="Module 3 badge"/>
          <p:cNvSpPr/>
          <p:nvPr/>
        </p:nvSpPr>
        <p:spPr>
          <a:xfrm>
            <a:off x="2468880" y="3840480"/>
            <a:ext cx="640080" cy="640080"/>
          </a:xfrm>
          <a:prstGeom prst="ellipse">
            <a:avLst/>
          </a:prstGeom>
          <a:solidFill>
            <a:schemeClr val="accent3"/>
          </a:solidFill>
          <a:ln w="12700">
            <a:solidFill>
              <a:schemeClr val="accent3"/>
            </a:solidFill>
            <a:prstDash val="solid"/>
          </a:ln>
        </p:spPr>
      </p:sp>
      <p:sp>
        <p:nvSpPr>
          <p:cNvPr id="11" name="M3 label"/>
          <p:cNvSpPr txBox="1"/>
          <p:nvPr/>
        </p:nvSpPr>
        <p:spPr>
          <a:xfrm>
            <a:off x="2468880" y="38404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M3</a:t>
            </a:r>
            <a:endParaRPr lang="en-US" sz="1600" dirty="0"/>
          </a:p>
        </p:txBody>
      </p:sp>
      <p:sp>
        <p:nvSpPr>
          <p:cNvPr id="12" name="Module 4 badge"/>
          <p:cNvSpPr/>
          <p:nvPr/>
        </p:nvSpPr>
        <p:spPr>
          <a:xfrm>
            <a:off x="3337560" y="3840480"/>
            <a:ext cx="640080" cy="640080"/>
          </a:xfrm>
          <a:prstGeom prst="ellipse">
            <a:avLst/>
          </a:prstGeom>
          <a:solidFill>
            <a:schemeClr val="accent4"/>
          </a:solidFill>
          <a:ln w="12700">
            <a:solidFill>
              <a:schemeClr val="accent4"/>
            </a:solidFill>
            <a:prstDash val="solid"/>
          </a:ln>
        </p:spPr>
      </p:sp>
      <p:sp>
        <p:nvSpPr>
          <p:cNvPr id="13" name="M4 label"/>
          <p:cNvSpPr txBox="1"/>
          <p:nvPr/>
        </p:nvSpPr>
        <p:spPr>
          <a:xfrm>
            <a:off x="3337560" y="38404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M4</a:t>
            </a:r>
            <a:endParaRPr lang="en-US" sz="1600" dirty="0"/>
          </a:p>
        </p:txBody>
      </p:sp>
      <p:sp>
        <p:nvSpPr>
          <p:cNvPr id="14" name="Module 5 badge"/>
          <p:cNvSpPr/>
          <p:nvPr/>
        </p:nvSpPr>
        <p:spPr>
          <a:xfrm>
            <a:off x="4206240" y="3840480"/>
            <a:ext cx="640080" cy="640080"/>
          </a:xfrm>
          <a:prstGeom prst="ellipse">
            <a:avLst/>
          </a:prstGeom>
          <a:solidFill>
            <a:schemeClr val="accent5"/>
          </a:solidFill>
          <a:ln w="12700">
            <a:solidFill>
              <a:schemeClr val="accent5"/>
            </a:solidFill>
            <a:prstDash val="solid"/>
          </a:ln>
        </p:spPr>
      </p:sp>
      <p:sp>
        <p:nvSpPr>
          <p:cNvPr id="15" name="M5 label"/>
          <p:cNvSpPr txBox="1"/>
          <p:nvPr/>
        </p:nvSpPr>
        <p:spPr>
          <a:xfrm>
            <a:off x="4206240" y="38404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M5</a:t>
            </a:r>
            <a:endParaRPr lang="en-US" sz="1600" dirty="0"/>
          </a:p>
        </p:txBody>
      </p:sp>
      <p:sp>
        <p:nvSpPr>
          <p:cNvPr id="16" name="Module 6 badge"/>
          <p:cNvSpPr/>
          <p:nvPr/>
        </p:nvSpPr>
        <p:spPr>
          <a:xfrm>
            <a:off x="5074920" y="3840480"/>
            <a:ext cx="640080" cy="640080"/>
          </a:xfrm>
          <a:prstGeom prst="ellipse">
            <a:avLst/>
          </a:prstGeom>
          <a:solidFill>
            <a:schemeClr val="accent6"/>
          </a:solidFill>
          <a:ln w="12700">
            <a:solidFill>
              <a:schemeClr val="accent6"/>
            </a:solidFill>
            <a:prstDash val="solid"/>
          </a:ln>
        </p:spPr>
      </p:sp>
      <p:sp>
        <p:nvSpPr>
          <p:cNvPr id="17" name="M6 label"/>
          <p:cNvSpPr txBox="1"/>
          <p:nvPr/>
        </p:nvSpPr>
        <p:spPr>
          <a:xfrm>
            <a:off x="5074920" y="38404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M6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200" b="1" dirty="0">
                <a:solidFill>
                  <a:schemeClr val="tx2"/>
                </a:solidFill>
              </a:rPr>
              <a:t>What is AgriFlow?</a:t>
            </a:r>
            <a:endParaRPr lang="en-US" sz="3200" dirty="0"/>
          </a:p>
        </p:txBody>
      </p:sp>
      <p:sp>
        <p:nvSpPr>
          <p:cNvPr id="3" name="Intro text"/>
          <p:cNvSpPr txBox="1"/>
          <p:nvPr/>
        </p:nvSpPr>
        <p:spPr>
          <a:xfrm>
            <a:off x="548640" y="1280160"/>
            <a:ext cx="4206240" cy="3200400"/>
          </a:xfrm>
          <a:prstGeom prst="rect">
            <a:avLst/>
          </a:prstGeom>
          <a:noFill/>
          <a:ln/>
        </p:spPr>
        <p:txBody>
          <a:bodyPr wrap="square" lIns="0" tIns="0" rIns="0" bIns="0" rtlCol="0" anchor="t"/>
          <a:lstStyle/>
          <a:p>
            <a:pPr indent="0" marL="0">
              <a:spcAft>
                <a:spcPts val="1200"/>
              </a:spcAft>
              <a:buNone/>
            </a:pPr>
            <a:r>
              <a:rPr lang="en-US" sz="1600" dirty="0">
                <a:solidFill>
                  <a:schemeClr val="tx1"/>
                </a:solidFill>
              </a:rPr>
              <a:t>A farm-data web app where every algorithm from our syllabus runs live.</a:t>
            </a:r>
            <a:endParaRPr lang="en-US" sz="1600" dirty="0"/>
          </a:p>
          <a:p>
            <a:pPr marL="342900" indent="-342900">
              <a:spcAft>
                <a:spcPts val="800"/>
              </a:spcAft>
              <a:buSzPct val="100000"/>
              <a:buChar char="•"/>
            </a:pPr>
            <a:r>
              <a:rPr lang="en-US" sz="1600" dirty="0">
                <a:solidFill>
                  <a:schemeClr val="tx1"/>
                </a:solidFill>
              </a:rPr>
              <a:t>15 farm records (crop, disease, soil, season) are the data</a:t>
            </a:r>
            <a:endParaRPr lang="en-US" sz="1600" dirty="0"/>
          </a:p>
          <a:p>
            <a:pPr marL="342900" indent="-342900">
              <a:spcAft>
                <a:spcPts val="800"/>
              </a:spcAft>
              <a:buSzPct val="100000"/>
              <a:buChar char="•"/>
            </a:pPr>
            <a:r>
              <a:rPr lang="en-US" sz="1600" dirty="0">
                <a:solidFill>
                  <a:schemeClr val="tx1"/>
                </a:solidFill>
              </a:rPr>
              <a:t>31 interactive labs, one per algorithm</a:t>
            </a:r>
            <a:endParaRPr lang="en-US" sz="1600" dirty="0"/>
          </a:p>
          <a:p>
            <a:pPr marL="342900" indent="-342900">
              <a:spcAft>
                <a:spcPts val="800"/>
              </a:spcAft>
              <a:buSzPct val="100000"/>
              <a:buChar char="•"/>
            </a:pPr>
            <a:r>
              <a:rPr lang="en-US" sz="1600" dirty="0">
                <a:solidFill>
                  <a:schemeClr val="tx1"/>
                </a:solidFill>
              </a:rPr>
              <a:t>Java only. The engine is hand-built, with no java.util</a:t>
            </a:r>
            <a:endParaRPr lang="en-US" sz="1600" dirty="0"/>
          </a:p>
          <a:p>
            <a:pPr marL="342900" indent="-342900">
              <a:buSzPct val="100000"/>
              <a:buChar char="•"/>
            </a:pPr>
            <a:r>
              <a:rPr lang="en-US" sz="1600" dirty="0">
                <a:solidFill>
                  <a:schemeClr val="tx1"/>
                </a:solidFill>
              </a:rPr>
              <a:t>Click Run, watch it work, read the 'explain it like I'm 10' box</a:t>
            </a:r>
            <a:endParaRPr lang="en-US" sz="1600" dirty="0"/>
          </a:p>
        </p:txBody>
      </p:sp>
      <p:sp>
        <p:nvSpPr>
          <p:cNvPr id="4" name="Stat card 1"/>
          <p:cNvSpPr/>
          <p:nvPr/>
        </p:nvSpPr>
        <p:spPr>
          <a:xfrm>
            <a:off x="5029200" y="1280160"/>
            <a:ext cx="1691640" cy="1554480"/>
          </a:xfrm>
          <a:prstGeom prst="roundRect">
            <a:avLst>
              <a:gd name="adj" fmla="val 7059"/>
            </a:avLst>
          </a:prstGeom>
          <a:solidFill>
            <a:schemeClr val="bg2"/>
          </a:solidFill>
          <a:ln w="12700">
            <a:solidFill>
              <a:schemeClr val="bg2"/>
            </a:solidFill>
            <a:prstDash val="solid"/>
          </a:ln>
        </p:spPr>
      </p:sp>
      <p:sp>
        <p:nvSpPr>
          <p:cNvPr id="5" name="Stat value 1"/>
          <p:cNvSpPr txBox="1"/>
          <p:nvPr/>
        </p:nvSpPr>
        <p:spPr>
          <a:xfrm>
            <a:off x="5029200" y="1508760"/>
            <a:ext cx="1691640" cy="640080"/>
          </a:xfrm>
          <a:prstGeom prst="rect">
            <a:avLst/>
          </a:prstGeom>
          <a:noFill/>
          <a:ln/>
        </p:spPr>
        <p:txBody>
          <a:bodyPr wrap="square" lIns="0" tIns="0" rIns="0" bIns="0" rtlCol="0" anchor="ctr"/>
          <a:lstStyle/>
          <a:p>
            <a:pPr algn="ctr" indent="0" marL="0">
              <a:buNone/>
            </a:pPr>
            <a:r>
              <a:rPr lang="en-US" sz="3000" b="1" dirty="0">
                <a:solidFill>
                  <a:schemeClr val="accent1"/>
                </a:solidFill>
              </a:rPr>
              <a:t>31</a:t>
            </a:r>
            <a:endParaRPr lang="en-US" sz="3000" dirty="0"/>
          </a:p>
        </p:txBody>
      </p:sp>
      <p:sp>
        <p:nvSpPr>
          <p:cNvPr id="6" name="Stat label 1"/>
          <p:cNvSpPr txBox="1"/>
          <p:nvPr/>
        </p:nvSpPr>
        <p:spPr>
          <a:xfrm>
            <a:off x="5120640" y="2148840"/>
            <a:ext cx="1508760" cy="548640"/>
          </a:xfrm>
          <a:prstGeom prst="rect">
            <a:avLst/>
          </a:prstGeom>
          <a:noFill/>
          <a:ln/>
        </p:spPr>
        <p:txBody>
          <a:bodyPr wrap="square" lIns="0" tIns="0" rIns="0" bIns="0" rtlCol="0" anchor="t"/>
          <a:lstStyle/>
          <a:p>
            <a:pPr algn="ctr" indent="0" marL="0">
              <a:buNone/>
            </a:pPr>
            <a:r>
              <a:rPr lang="en-US" sz="1400" dirty="0">
                <a:solidFill>
                  <a:schemeClr val="tx1"/>
                </a:solidFill>
              </a:rPr>
              <a:t>interactive labs</a:t>
            </a:r>
            <a:endParaRPr lang="en-US" sz="1400" dirty="0"/>
          </a:p>
        </p:txBody>
      </p:sp>
      <p:sp>
        <p:nvSpPr>
          <p:cNvPr id="7" name="Stat card 2"/>
          <p:cNvSpPr/>
          <p:nvPr/>
        </p:nvSpPr>
        <p:spPr>
          <a:xfrm>
            <a:off x="6903720" y="1280160"/>
            <a:ext cx="1691640" cy="1554480"/>
          </a:xfrm>
          <a:prstGeom prst="roundRect">
            <a:avLst>
              <a:gd name="adj" fmla="val 7059"/>
            </a:avLst>
          </a:prstGeom>
          <a:solidFill>
            <a:schemeClr val="bg2"/>
          </a:solidFill>
          <a:ln w="12700">
            <a:solidFill>
              <a:schemeClr val="bg2"/>
            </a:solidFill>
            <a:prstDash val="solid"/>
          </a:ln>
        </p:spPr>
      </p:sp>
      <p:sp>
        <p:nvSpPr>
          <p:cNvPr id="8" name="Stat value 2"/>
          <p:cNvSpPr txBox="1"/>
          <p:nvPr/>
        </p:nvSpPr>
        <p:spPr>
          <a:xfrm>
            <a:off x="6903720" y="1508760"/>
            <a:ext cx="1691640" cy="640080"/>
          </a:xfrm>
          <a:prstGeom prst="rect">
            <a:avLst/>
          </a:prstGeom>
          <a:noFill/>
          <a:ln/>
        </p:spPr>
        <p:txBody>
          <a:bodyPr wrap="square" lIns="0" tIns="0" rIns="0" bIns="0" rtlCol="0" anchor="ctr"/>
          <a:lstStyle/>
          <a:p>
            <a:pPr algn="ctr" indent="0" marL="0">
              <a:buNone/>
            </a:pPr>
            <a:r>
              <a:rPr lang="en-US" sz="3000" b="1" dirty="0">
                <a:solidFill>
                  <a:schemeClr val="accent1"/>
                </a:solidFill>
              </a:rPr>
              <a:t>6</a:t>
            </a:r>
            <a:endParaRPr lang="en-US" sz="3000" dirty="0"/>
          </a:p>
        </p:txBody>
      </p:sp>
      <p:sp>
        <p:nvSpPr>
          <p:cNvPr id="9" name="Stat label 2"/>
          <p:cNvSpPr txBox="1"/>
          <p:nvPr/>
        </p:nvSpPr>
        <p:spPr>
          <a:xfrm>
            <a:off x="6995160" y="2148840"/>
            <a:ext cx="1508760" cy="548640"/>
          </a:xfrm>
          <a:prstGeom prst="rect">
            <a:avLst/>
          </a:prstGeom>
          <a:noFill/>
          <a:ln/>
        </p:spPr>
        <p:txBody>
          <a:bodyPr wrap="square" lIns="0" tIns="0" rIns="0" bIns="0" rtlCol="0" anchor="t"/>
          <a:lstStyle/>
          <a:p>
            <a:pPr algn="ctr" indent="0" marL="0">
              <a:buNone/>
            </a:pPr>
            <a:r>
              <a:rPr lang="en-US" sz="1400" dirty="0">
                <a:solidFill>
                  <a:schemeClr val="tx1"/>
                </a:solidFill>
              </a:rPr>
              <a:t>syllabus modules</a:t>
            </a:r>
            <a:endParaRPr lang="en-US" sz="1400" dirty="0"/>
          </a:p>
        </p:txBody>
      </p:sp>
      <p:sp>
        <p:nvSpPr>
          <p:cNvPr id="10" name="Stat card 3"/>
          <p:cNvSpPr/>
          <p:nvPr/>
        </p:nvSpPr>
        <p:spPr>
          <a:xfrm>
            <a:off x="5029200" y="3017520"/>
            <a:ext cx="1691640" cy="1554480"/>
          </a:xfrm>
          <a:prstGeom prst="roundRect">
            <a:avLst>
              <a:gd name="adj" fmla="val 7059"/>
            </a:avLst>
          </a:prstGeom>
          <a:solidFill>
            <a:schemeClr val="bg2"/>
          </a:solidFill>
          <a:ln w="12700">
            <a:solidFill>
              <a:schemeClr val="bg2"/>
            </a:solidFill>
            <a:prstDash val="solid"/>
          </a:ln>
        </p:spPr>
      </p:sp>
      <p:sp>
        <p:nvSpPr>
          <p:cNvPr id="11" name="Stat value 3"/>
          <p:cNvSpPr txBox="1"/>
          <p:nvPr/>
        </p:nvSpPr>
        <p:spPr>
          <a:xfrm>
            <a:off x="5029200" y="3246120"/>
            <a:ext cx="1691640" cy="640080"/>
          </a:xfrm>
          <a:prstGeom prst="rect">
            <a:avLst/>
          </a:prstGeom>
          <a:noFill/>
          <a:ln/>
        </p:spPr>
        <p:txBody>
          <a:bodyPr wrap="square" lIns="0" tIns="0" rIns="0" bIns="0" rtlCol="0" anchor="ctr"/>
          <a:lstStyle/>
          <a:p>
            <a:pPr algn="ctr" indent="0" marL="0">
              <a:buNone/>
            </a:pPr>
            <a:r>
              <a:rPr lang="en-US" sz="3000" b="1" dirty="0">
                <a:solidFill>
                  <a:schemeClr val="accent1"/>
                </a:solidFill>
              </a:rPr>
              <a:t>15</a:t>
            </a:r>
            <a:endParaRPr lang="en-US" sz="3000" dirty="0"/>
          </a:p>
        </p:txBody>
      </p:sp>
      <p:sp>
        <p:nvSpPr>
          <p:cNvPr id="12" name="Stat label 3"/>
          <p:cNvSpPr txBox="1"/>
          <p:nvPr/>
        </p:nvSpPr>
        <p:spPr>
          <a:xfrm>
            <a:off x="5120640" y="3886200"/>
            <a:ext cx="1508760" cy="548640"/>
          </a:xfrm>
          <a:prstGeom prst="rect">
            <a:avLst/>
          </a:prstGeom>
          <a:noFill/>
          <a:ln/>
        </p:spPr>
        <p:txBody>
          <a:bodyPr wrap="square" lIns="0" tIns="0" rIns="0" bIns="0" rtlCol="0" anchor="t"/>
          <a:lstStyle/>
          <a:p>
            <a:pPr algn="ctr" indent="0" marL="0">
              <a:buNone/>
            </a:pPr>
            <a:r>
              <a:rPr lang="en-US" sz="1400" dirty="0">
                <a:solidFill>
                  <a:schemeClr val="tx1"/>
                </a:solidFill>
              </a:rPr>
              <a:t>farm records</a:t>
            </a:r>
            <a:endParaRPr lang="en-US" sz="1400" dirty="0"/>
          </a:p>
        </p:txBody>
      </p:sp>
      <p:sp>
        <p:nvSpPr>
          <p:cNvPr id="13" name="Stat card 4"/>
          <p:cNvSpPr/>
          <p:nvPr/>
        </p:nvSpPr>
        <p:spPr>
          <a:xfrm>
            <a:off x="6903720" y="3017520"/>
            <a:ext cx="1691640" cy="1554480"/>
          </a:xfrm>
          <a:prstGeom prst="roundRect">
            <a:avLst>
              <a:gd name="adj" fmla="val 7059"/>
            </a:avLst>
          </a:prstGeom>
          <a:solidFill>
            <a:schemeClr val="bg2"/>
          </a:solidFill>
          <a:ln w="12700">
            <a:solidFill>
              <a:schemeClr val="bg2"/>
            </a:solidFill>
            <a:prstDash val="solid"/>
          </a:ln>
        </p:spPr>
      </p:sp>
      <p:sp>
        <p:nvSpPr>
          <p:cNvPr id="14" name="Stat value 4"/>
          <p:cNvSpPr txBox="1"/>
          <p:nvPr/>
        </p:nvSpPr>
        <p:spPr>
          <a:xfrm>
            <a:off x="6903720" y="3246120"/>
            <a:ext cx="1691640" cy="640080"/>
          </a:xfrm>
          <a:prstGeom prst="rect">
            <a:avLst/>
          </a:prstGeom>
          <a:noFill/>
          <a:ln/>
        </p:spPr>
        <p:txBody>
          <a:bodyPr wrap="square" lIns="0" tIns="0" rIns="0" bIns="0" rtlCol="0" anchor="ctr"/>
          <a:lstStyle/>
          <a:p>
            <a:pPr algn="ctr" indent="0" marL="0">
              <a:buNone/>
            </a:pPr>
            <a:r>
              <a:rPr lang="en-US" sz="3000" b="1" dirty="0">
                <a:solidFill>
                  <a:schemeClr val="accent1"/>
                </a:solidFill>
              </a:rPr>
              <a:t>54,614</a:t>
            </a:r>
            <a:endParaRPr lang="en-US" sz="3000" dirty="0"/>
          </a:p>
        </p:txBody>
      </p:sp>
      <p:sp>
        <p:nvSpPr>
          <p:cNvPr id="15" name="Stat label 4"/>
          <p:cNvSpPr txBox="1"/>
          <p:nvPr/>
        </p:nvSpPr>
        <p:spPr>
          <a:xfrm>
            <a:off x="6995160" y="3886200"/>
            <a:ext cx="1508760" cy="548640"/>
          </a:xfrm>
          <a:prstGeom prst="rect">
            <a:avLst/>
          </a:prstGeom>
          <a:noFill/>
          <a:ln/>
        </p:spPr>
        <p:txBody>
          <a:bodyPr wrap="square" lIns="0" tIns="0" rIns="0" bIns="0" rtlCol="0" anchor="t"/>
          <a:lstStyle/>
          <a:p>
            <a:pPr algn="ctr" indent="0" marL="0">
              <a:buNone/>
            </a:pPr>
            <a:r>
              <a:rPr lang="en-US" sz="1400" dirty="0">
                <a:solidFill>
                  <a:schemeClr val="tx1"/>
                </a:solidFill>
              </a:rPr>
              <a:t>self-checks, 0 failed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200" b="1" dirty="0">
                <a:solidFill>
                  <a:schemeClr val="tx2"/>
                </a:solidFill>
              </a:rPr>
              <a:t>Why this project</a:t>
            </a:r>
            <a:endParaRPr lang="en-US" sz="3200" dirty="0"/>
          </a:p>
        </p:txBody>
      </p:sp>
      <p:sp>
        <p:nvSpPr>
          <p:cNvPr id="3" name="Why card 1"/>
          <p:cNvSpPr/>
          <p:nvPr/>
        </p:nvSpPr>
        <p:spPr>
          <a:xfrm>
            <a:off x="548640" y="1280160"/>
            <a:ext cx="2560320" cy="3017520"/>
          </a:xfrm>
          <a:prstGeom prst="roundRect">
            <a:avLst>
              <a:gd name="adj" fmla="val 4286"/>
            </a:avLst>
          </a:prstGeom>
          <a:solidFill>
            <a:schemeClr val="bg2"/>
          </a:solidFill>
          <a:ln w="12700">
            <a:solidFill>
              <a:schemeClr val="bg2"/>
            </a:solidFill>
            <a:prstDash val="solid"/>
          </a:ln>
        </p:spPr>
      </p:sp>
      <p:sp>
        <p:nvSpPr>
          <p:cNvPr id="4" name="Why 1 circle"/>
          <p:cNvSpPr/>
          <p:nvPr/>
        </p:nvSpPr>
        <p:spPr>
          <a:xfrm>
            <a:off x="777240" y="1508760"/>
            <a:ext cx="640080" cy="640080"/>
          </a:xfrm>
          <a:prstGeom prst="ellipse">
            <a:avLst/>
          </a:prstGeom>
          <a:solidFill>
            <a:schemeClr val="accent1"/>
          </a:solidFill>
          <a:ln w="12700">
            <a:solidFill>
              <a:schemeClr val="accent1"/>
            </a:solidFill>
            <a:prstDash val="solid"/>
          </a:ln>
        </p:spPr>
      </p:sp>
      <p:pic>
        <p:nvPicPr>
          <p:cNvPr id="5" name="Why 1 icon" descr="Why 1">    </p:cNvPr>
          <p:cNvPicPr>
            <a:picLocks noChangeAspect="1"/>
          </p:cNvPicPr>
          <p:nvPr/>
        </p:nvPicPr>
        <p:blipFill>
          <a:blip r:embed="rId1"/>
          <a:stretch>
            <a:fillRect/>
          </a:stretch>
        </p:blipFill>
        <p:spPr>
          <a:xfrm>
            <a:off x="918058" y="1649578"/>
            <a:ext cx="358445" cy="358445"/>
          </a:xfrm>
          <a:prstGeom prst="rect">
            <a:avLst/>
          </a:prstGeom>
        </p:spPr>
      </p:pic>
      <p:sp>
        <p:nvSpPr>
          <p:cNvPr id="6" name="Why heading 1"/>
          <p:cNvSpPr txBox="1"/>
          <p:nvPr/>
        </p:nvSpPr>
        <p:spPr>
          <a:xfrm>
            <a:off x="777240" y="2286000"/>
            <a:ext cx="2103120" cy="411480"/>
          </a:xfrm>
          <a:prstGeom prst="rect">
            <a:avLst/>
          </a:prstGeom>
          <a:noFill/>
          <a:ln/>
        </p:spPr>
        <p:txBody>
          <a:bodyPr wrap="square" lIns="0" tIns="0" rIns="0" bIns="0" rtlCol="0" anchor="ctr"/>
          <a:lstStyle/>
          <a:p>
            <a:pPr indent="0" marL="0">
              <a:buNone/>
            </a:pPr>
            <a:r>
              <a:rPr lang="en-US" sz="2000" b="1" dirty="0">
                <a:solidFill>
                  <a:schemeClr val="tx2"/>
                </a:solidFill>
              </a:rPr>
              <a:t>Books stay still</a:t>
            </a:r>
            <a:endParaRPr lang="en-US" sz="2000" dirty="0"/>
          </a:p>
        </p:txBody>
      </p:sp>
      <p:sp>
        <p:nvSpPr>
          <p:cNvPr id="7" name="Why text 1"/>
          <p:cNvSpPr txBox="1"/>
          <p:nvPr/>
        </p:nvSpPr>
        <p:spPr>
          <a:xfrm>
            <a:off x="777240" y="2788920"/>
            <a:ext cx="2103120" cy="1371600"/>
          </a:xfrm>
          <a:prstGeom prst="rect">
            <a:avLst/>
          </a:prstGeom>
          <a:noFill/>
          <a:ln/>
        </p:spPr>
        <p:txBody>
          <a:bodyPr wrap="square" lIns="0" tIns="0" rIns="0" bIns="0" rtlCol="0" anchor="t"/>
          <a:lstStyle/>
          <a:p>
            <a:pPr indent="0" marL="0">
              <a:buNone/>
            </a:pPr>
            <a:r>
              <a:rPr lang="en-US" sz="1400" dirty="0">
                <a:solidFill>
                  <a:schemeClr val="tx1"/>
                </a:solidFill>
              </a:rPr>
              <a:t>A textbook shows one frozen example. Here you click Run and watch the grid, graph or map fill in.</a:t>
            </a:r>
            <a:endParaRPr lang="en-US" sz="1400" dirty="0"/>
          </a:p>
        </p:txBody>
      </p:sp>
      <p:sp>
        <p:nvSpPr>
          <p:cNvPr id="8" name="Why card 2"/>
          <p:cNvSpPr/>
          <p:nvPr/>
        </p:nvSpPr>
        <p:spPr>
          <a:xfrm>
            <a:off x="3291840" y="1280160"/>
            <a:ext cx="2560320" cy="3017520"/>
          </a:xfrm>
          <a:prstGeom prst="roundRect">
            <a:avLst>
              <a:gd name="adj" fmla="val 4286"/>
            </a:avLst>
          </a:prstGeom>
          <a:solidFill>
            <a:schemeClr val="bg2"/>
          </a:solidFill>
          <a:ln w="12700">
            <a:solidFill>
              <a:schemeClr val="bg2"/>
            </a:solidFill>
            <a:prstDash val="solid"/>
          </a:ln>
        </p:spPr>
      </p:sp>
      <p:sp>
        <p:nvSpPr>
          <p:cNvPr id="9" name="Why 2 circle"/>
          <p:cNvSpPr/>
          <p:nvPr/>
        </p:nvSpPr>
        <p:spPr>
          <a:xfrm>
            <a:off x="3520440" y="1508760"/>
            <a:ext cx="640080" cy="640080"/>
          </a:xfrm>
          <a:prstGeom prst="ellipse">
            <a:avLst/>
          </a:prstGeom>
          <a:solidFill>
            <a:schemeClr val="accent1"/>
          </a:solidFill>
          <a:ln w="12700">
            <a:solidFill>
              <a:schemeClr val="accent1"/>
            </a:solidFill>
            <a:prstDash val="solid"/>
          </a:ln>
        </p:spPr>
      </p:sp>
      <p:pic>
        <p:nvPicPr>
          <p:cNvPr id="10" name="Why 2 icon" descr="Why 2">    </p:cNvPr>
          <p:cNvPicPr>
            <a:picLocks noChangeAspect="1"/>
          </p:cNvPicPr>
          <p:nvPr/>
        </p:nvPicPr>
        <p:blipFill>
          <a:blip r:embed="rId2"/>
          <a:stretch>
            <a:fillRect/>
          </a:stretch>
        </p:blipFill>
        <p:spPr>
          <a:xfrm>
            <a:off x="3661258" y="1649578"/>
            <a:ext cx="358445" cy="358445"/>
          </a:xfrm>
          <a:prstGeom prst="rect">
            <a:avLst/>
          </a:prstGeom>
        </p:spPr>
      </p:pic>
      <p:sp>
        <p:nvSpPr>
          <p:cNvPr id="11" name="Why heading 2"/>
          <p:cNvSpPr txBox="1"/>
          <p:nvPr/>
        </p:nvSpPr>
        <p:spPr>
          <a:xfrm>
            <a:off x="3520440" y="2286000"/>
            <a:ext cx="2103120" cy="411480"/>
          </a:xfrm>
          <a:prstGeom prst="rect">
            <a:avLst/>
          </a:prstGeom>
          <a:noFill/>
          <a:ln/>
        </p:spPr>
        <p:txBody>
          <a:bodyPr wrap="square" lIns="0" tIns="0" rIns="0" bIns="0" rtlCol="0" anchor="ctr"/>
          <a:lstStyle/>
          <a:p>
            <a:pPr indent="0" marL="0">
              <a:buNone/>
            </a:pPr>
            <a:r>
              <a:rPr lang="en-US" sz="2000" b="1" dirty="0">
                <a:solidFill>
                  <a:schemeClr val="tx2"/>
                </a:solidFill>
              </a:rPr>
              <a:t>Farm data fits</a:t>
            </a:r>
            <a:endParaRPr lang="en-US" sz="2000" dirty="0"/>
          </a:p>
        </p:txBody>
      </p:sp>
      <p:sp>
        <p:nvSpPr>
          <p:cNvPr id="12" name="Why text 2"/>
          <p:cNvSpPr txBox="1"/>
          <p:nvPr/>
        </p:nvSpPr>
        <p:spPr>
          <a:xfrm>
            <a:off x="3520440" y="2788920"/>
            <a:ext cx="2103120" cy="1371600"/>
          </a:xfrm>
          <a:prstGeom prst="rect">
            <a:avLst/>
          </a:prstGeom>
          <a:noFill/>
          <a:ln/>
        </p:spPr>
        <p:txBody>
          <a:bodyPr wrap="square" lIns="0" tIns="0" rIns="0" bIns="0" rtlCol="0" anchor="t"/>
          <a:lstStyle/>
          <a:p>
            <a:pPr indent="0" marL="0">
              <a:buNone/>
            </a:pPr>
            <a:r>
              <a:rPr lang="en-US" sz="1400" dirty="0">
                <a:solidFill>
                  <a:schemeClr val="tx1"/>
                </a:solidFill>
              </a:rPr>
              <a:t>Crops, diseases and routes are real text, graphs and choices, so every module gets a natural job.</a:t>
            </a:r>
            <a:endParaRPr lang="en-US" sz="1400" dirty="0"/>
          </a:p>
        </p:txBody>
      </p:sp>
      <p:sp>
        <p:nvSpPr>
          <p:cNvPr id="13" name="Why card 3"/>
          <p:cNvSpPr/>
          <p:nvPr/>
        </p:nvSpPr>
        <p:spPr>
          <a:xfrm>
            <a:off x="6035040" y="1280160"/>
            <a:ext cx="2560320" cy="3017520"/>
          </a:xfrm>
          <a:prstGeom prst="roundRect">
            <a:avLst>
              <a:gd name="adj" fmla="val 4286"/>
            </a:avLst>
          </a:prstGeom>
          <a:solidFill>
            <a:schemeClr val="bg2"/>
          </a:solidFill>
          <a:ln w="12700">
            <a:solidFill>
              <a:schemeClr val="bg2"/>
            </a:solidFill>
            <a:prstDash val="solid"/>
          </a:ln>
        </p:spPr>
      </p:sp>
      <p:sp>
        <p:nvSpPr>
          <p:cNvPr id="14" name="Why 3 circle"/>
          <p:cNvSpPr/>
          <p:nvPr/>
        </p:nvSpPr>
        <p:spPr>
          <a:xfrm>
            <a:off x="6263640" y="1508760"/>
            <a:ext cx="640080" cy="640080"/>
          </a:xfrm>
          <a:prstGeom prst="ellipse">
            <a:avLst/>
          </a:prstGeom>
          <a:solidFill>
            <a:schemeClr val="accent1"/>
          </a:solidFill>
          <a:ln w="12700">
            <a:solidFill>
              <a:schemeClr val="accent1"/>
            </a:solidFill>
            <a:prstDash val="solid"/>
          </a:ln>
        </p:spPr>
      </p:sp>
      <p:pic>
        <p:nvPicPr>
          <p:cNvPr id="15" name="Why 3 icon" descr="Why 3">    </p:cNvPr>
          <p:cNvPicPr>
            <a:picLocks noChangeAspect="1"/>
          </p:cNvPicPr>
          <p:nvPr/>
        </p:nvPicPr>
        <p:blipFill>
          <a:blip r:embed="rId3"/>
          <a:stretch>
            <a:fillRect/>
          </a:stretch>
        </p:blipFill>
        <p:spPr>
          <a:xfrm>
            <a:off x="6404458" y="1649578"/>
            <a:ext cx="358445" cy="358445"/>
          </a:xfrm>
          <a:prstGeom prst="rect">
            <a:avLst/>
          </a:prstGeom>
        </p:spPr>
      </p:pic>
      <p:sp>
        <p:nvSpPr>
          <p:cNvPr id="16" name="Why heading 3"/>
          <p:cNvSpPr txBox="1"/>
          <p:nvPr/>
        </p:nvSpPr>
        <p:spPr>
          <a:xfrm>
            <a:off x="6263640" y="2286000"/>
            <a:ext cx="2103120" cy="411480"/>
          </a:xfrm>
          <a:prstGeom prst="rect">
            <a:avLst/>
          </a:prstGeom>
          <a:noFill/>
          <a:ln/>
        </p:spPr>
        <p:txBody>
          <a:bodyPr wrap="square" lIns="0" tIns="0" rIns="0" bIns="0" rtlCol="0" anchor="ctr"/>
          <a:lstStyle/>
          <a:p>
            <a:pPr indent="0" marL="0">
              <a:buNone/>
            </a:pPr>
            <a:r>
              <a:rPr lang="en-US" sz="2000" b="1" dirty="0">
                <a:solidFill>
                  <a:schemeClr val="tx2"/>
                </a:solidFill>
              </a:rPr>
              <a:t>Built by hand</a:t>
            </a:r>
            <a:endParaRPr lang="en-US" sz="2000" dirty="0"/>
          </a:p>
        </p:txBody>
      </p:sp>
      <p:sp>
        <p:nvSpPr>
          <p:cNvPr id="17" name="Why text 3"/>
          <p:cNvSpPr txBox="1"/>
          <p:nvPr/>
        </p:nvSpPr>
        <p:spPr>
          <a:xfrm>
            <a:off x="6263640" y="2788920"/>
            <a:ext cx="2103120" cy="1371600"/>
          </a:xfrm>
          <a:prstGeom prst="rect">
            <a:avLst/>
          </a:prstGeom>
          <a:noFill/>
          <a:ln/>
        </p:spPr>
        <p:txBody>
          <a:bodyPr wrap="square" lIns="0" tIns="0" rIns="0" bIns="0" rtlCol="0" anchor="t"/>
          <a:lstStyle/>
          <a:p>
            <a:pPr indent="0" marL="0">
              <a:buNone/>
            </a:pPr>
            <a:r>
              <a:rPr lang="en-US" sz="1400" dirty="0">
                <a:solidFill>
                  <a:schemeClr val="tx1"/>
                </a:solidFill>
              </a:rPr>
              <a:t>No java.util in the engine. Every line is ours, so we can explain how it works.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200" b="1" dirty="0">
                <a:solidFill>
                  <a:schemeClr val="tx2"/>
                </a:solidFill>
              </a:rPr>
              <a:t>Why Module 1 is used</a:t>
            </a:r>
            <a:endParaRPr lang="en-US" sz="3200" dirty="0"/>
          </a:p>
        </p:txBody>
      </p:sp>
      <p:sp>
        <p:nvSpPr>
          <p:cNvPr id="3" name="Module panel"/>
          <p:cNvSpPr/>
          <p:nvPr/>
        </p:nvSpPr>
        <p:spPr>
          <a:xfrm>
            <a:off x="548640" y="1234440"/>
            <a:ext cx="2743200" cy="2962656"/>
          </a:xfrm>
          <a:prstGeom prst="roundRect">
            <a:avLst>
              <a:gd name="adj" fmla="val 4000"/>
            </a:avLst>
          </a:prstGeom>
          <a:solidFill>
            <a:schemeClr val="tx2"/>
          </a:solidFill>
          <a:ln w="12700">
            <a:solidFill>
              <a:schemeClr val="tx2"/>
            </a:solidFill>
            <a:prstDash val="solid"/>
          </a:ln>
        </p:spPr>
      </p:sp>
      <p:sp>
        <p:nvSpPr>
          <p:cNvPr id="4" name="Module number"/>
          <p:cNvSpPr txBox="1"/>
          <p:nvPr/>
        </p:nvSpPr>
        <p:spPr>
          <a:xfrm>
            <a:off x="777240" y="1325880"/>
            <a:ext cx="2286000" cy="822960"/>
          </a:xfrm>
          <a:prstGeom prst="rect">
            <a:avLst/>
          </a:prstGeom>
          <a:noFill/>
          <a:ln/>
        </p:spPr>
        <p:txBody>
          <a:bodyPr wrap="square" lIns="0" tIns="0" rIns="0" bIns="0" rtlCol="0" anchor="ctr"/>
          <a:lstStyle/>
          <a:p>
            <a:pPr indent="0" marL="0">
              <a:buNone/>
            </a:pPr>
            <a:r>
              <a:rPr lang="en-US" sz="4800" b="1" dirty="0">
                <a:solidFill>
                  <a:schemeClr val="accent2"/>
                </a:solidFill>
              </a:rPr>
              <a:t>M1</a:t>
            </a:r>
            <a:endParaRPr lang="en-US" sz="4800" dirty="0"/>
          </a:p>
        </p:txBody>
      </p:sp>
      <p:sp>
        <p:nvSpPr>
          <p:cNvPr id="5" name="Module name"/>
          <p:cNvSpPr txBox="1"/>
          <p:nvPr/>
        </p:nvSpPr>
        <p:spPr>
          <a:xfrm>
            <a:off x="777240" y="2148840"/>
            <a:ext cx="2286000" cy="685800"/>
          </a:xfrm>
          <a:prstGeom prst="rect">
            <a:avLst/>
          </a:prstGeom>
          <a:noFill/>
          <a:ln/>
        </p:spPr>
        <p:txBody>
          <a:bodyPr wrap="square" lIns="0" tIns="0" rIns="0" bIns="0" rtlCol="0" anchor="t"/>
          <a:lstStyle/>
          <a:p>
            <a:pPr indent="0" marL="0">
              <a:buNone/>
            </a:pPr>
            <a:r>
              <a:rPr lang="en-US" sz="1800" b="1" dirty="0">
                <a:solidFill>
                  <a:schemeClr val="bg1"/>
                </a:solidFill>
              </a:rPr>
              <a:t>Foundations: the hand-built engine</a:t>
            </a:r>
            <a:endParaRPr lang="en-US" sz="1800" dirty="0"/>
          </a:p>
        </p:txBody>
      </p:sp>
      <p:sp>
        <p:nvSpPr>
          <p:cNvPr id="6" name="Module topics"/>
          <p:cNvSpPr txBox="1"/>
          <p:nvPr/>
        </p:nvSpPr>
        <p:spPr>
          <a:xfrm>
            <a:off x="777240" y="2880360"/>
            <a:ext cx="2286000" cy="1188720"/>
          </a:xfrm>
          <a:prstGeom prst="rect">
            <a:avLst/>
          </a:prstGeom>
          <a:noFill/>
          <a:ln/>
        </p:spPr>
        <p:txBody>
          <a:bodyPr wrap="square" lIns="0" tIns="0" rIns="0" bIns="0" rtlCol="0" anchor="t"/>
          <a:lstStyle/>
          <a:p>
            <a:pPr indent="0" marL="0">
              <a:buNone/>
            </a:pPr>
            <a:r>
              <a:rPr lang="en-US" sz="1200" dirty="0">
                <a:solidFill>
                  <a:schemeClr val="bg2"/>
                </a:solidFill>
              </a:rPr>
              <a:t>Algorithm analysis, Big-O, cost counters, similarity search</a:t>
            </a:r>
            <a:endParaRPr lang="en-US" sz="1200" dirty="0"/>
          </a:p>
        </p:txBody>
      </p:sp>
      <p:sp>
        <p:nvSpPr>
          <p:cNvPr id="7" name="Reason card 1"/>
          <p:cNvSpPr/>
          <p:nvPr/>
        </p:nvSpPr>
        <p:spPr>
          <a:xfrm>
            <a:off x="3474720" y="1234440"/>
            <a:ext cx="5120640" cy="914400"/>
          </a:xfrm>
          <a:prstGeom prst="roundRect">
            <a:avLst>
              <a:gd name="adj" fmla="val 10000"/>
            </a:avLst>
          </a:prstGeom>
          <a:solidFill>
            <a:schemeClr val="bg2"/>
          </a:solidFill>
          <a:ln w="12700">
            <a:solidFill>
              <a:schemeClr val="bg2"/>
            </a:solidFill>
            <a:prstDash val="solid"/>
          </a:ln>
        </p:spPr>
      </p:sp>
      <p:sp>
        <p:nvSpPr>
          <p:cNvPr id="8" name="Reason 1 circle"/>
          <p:cNvSpPr/>
          <p:nvPr/>
        </p:nvSpPr>
        <p:spPr>
          <a:xfrm>
            <a:off x="3657600" y="1435608"/>
            <a:ext cx="512064" cy="512064"/>
          </a:xfrm>
          <a:prstGeom prst="ellipse">
            <a:avLst/>
          </a:prstGeom>
          <a:solidFill>
            <a:schemeClr val="accent1"/>
          </a:solidFill>
          <a:ln w="12700">
            <a:solidFill>
              <a:schemeClr val="accent1"/>
            </a:solidFill>
            <a:prstDash val="solid"/>
          </a:ln>
        </p:spPr>
      </p:sp>
      <p:pic>
        <p:nvPicPr>
          <p:cNvPr id="9" name="Reason 1 icon" descr="Reason 1">    </p:cNvPr>
          <p:cNvPicPr>
            <a:picLocks noChangeAspect="1"/>
          </p:cNvPicPr>
          <p:nvPr/>
        </p:nvPicPr>
        <p:blipFill>
          <a:blip r:embed="rId1"/>
          <a:stretch>
            <a:fillRect/>
          </a:stretch>
        </p:blipFill>
        <p:spPr>
          <a:xfrm>
            <a:off x="3770254" y="1548262"/>
            <a:ext cx="286756" cy="286756"/>
          </a:xfrm>
          <a:prstGeom prst="rect">
            <a:avLst/>
          </a:prstGeom>
        </p:spPr>
      </p:pic>
      <p:sp>
        <p:nvSpPr>
          <p:cNvPr id="10" name="Reason heading 1"/>
          <p:cNvSpPr txBox="1"/>
          <p:nvPr/>
        </p:nvSpPr>
        <p:spPr>
          <a:xfrm>
            <a:off x="4343400" y="1289304"/>
            <a:ext cx="4114800" cy="274320"/>
          </a:xfrm>
          <a:prstGeom prst="rect">
            <a:avLst/>
          </a:prstGeom>
          <a:noFill/>
          <a:ln/>
        </p:spPr>
        <p:txBody>
          <a:bodyPr wrap="square" lIns="0" tIns="0" rIns="0" bIns="0" rtlCol="0" anchor="ctr"/>
          <a:lstStyle/>
          <a:p>
            <a:pPr indent="0" marL="0">
              <a:buNone/>
            </a:pPr>
            <a:r>
              <a:rPr lang="en-US" sz="1600" b="1" dirty="0">
                <a:solidFill>
                  <a:schemeClr val="tx2"/>
                </a:solidFill>
              </a:rPr>
              <a:t>Hand-built engine</a:t>
            </a:r>
            <a:endParaRPr lang="en-US" sz="1600" dirty="0"/>
          </a:p>
        </p:txBody>
      </p:sp>
      <p:sp>
        <p:nvSpPr>
          <p:cNvPr id="11" name="Reason text 1"/>
          <p:cNvSpPr txBox="1"/>
          <p:nvPr/>
        </p:nvSpPr>
        <p:spPr>
          <a:xfrm>
            <a:off x="4343400" y="1581912"/>
            <a:ext cx="4114800" cy="521208"/>
          </a:xfrm>
          <a:prstGeom prst="rect">
            <a:avLst/>
          </a:prstGeom>
          <a:noFill/>
          <a:ln/>
        </p:spPr>
        <p:txBody>
          <a:bodyPr wrap="square" lIns="0" tIns="0" rIns="0" bIns="0" rtlCol="0" anchor="t"/>
          <a:lstStyle/>
          <a:p>
            <a:pPr indent="0" marL="0">
              <a:buNone/>
            </a:pPr>
            <a:r>
              <a:rPr lang="en-US" sz="1400" dirty="0">
                <a:solidFill>
                  <a:schemeClr val="tx1"/>
                </a:solidFill>
              </a:rPr>
              <a:t>Only arrays and java.lang. IntList and Rng are written by us, as the syllabus requires.</a:t>
            </a:r>
            <a:endParaRPr lang="en-US" sz="1400" dirty="0"/>
          </a:p>
        </p:txBody>
      </p:sp>
      <p:sp>
        <p:nvSpPr>
          <p:cNvPr id="12" name="Reason card 2"/>
          <p:cNvSpPr/>
          <p:nvPr/>
        </p:nvSpPr>
        <p:spPr>
          <a:xfrm>
            <a:off x="3474720" y="2258568"/>
            <a:ext cx="5120640" cy="914400"/>
          </a:xfrm>
          <a:prstGeom prst="roundRect">
            <a:avLst>
              <a:gd name="adj" fmla="val 10000"/>
            </a:avLst>
          </a:prstGeom>
          <a:solidFill>
            <a:schemeClr val="bg2"/>
          </a:solidFill>
          <a:ln w="12700">
            <a:solidFill>
              <a:schemeClr val="bg2"/>
            </a:solidFill>
            <a:prstDash val="solid"/>
          </a:ln>
        </p:spPr>
      </p:sp>
      <p:sp>
        <p:nvSpPr>
          <p:cNvPr id="13" name="Reason 2 circle"/>
          <p:cNvSpPr/>
          <p:nvPr/>
        </p:nvSpPr>
        <p:spPr>
          <a:xfrm>
            <a:off x="3657600" y="2459736"/>
            <a:ext cx="512064" cy="512064"/>
          </a:xfrm>
          <a:prstGeom prst="ellipse">
            <a:avLst/>
          </a:prstGeom>
          <a:solidFill>
            <a:schemeClr val="accent1"/>
          </a:solidFill>
          <a:ln w="12700">
            <a:solidFill>
              <a:schemeClr val="accent1"/>
            </a:solidFill>
            <a:prstDash val="solid"/>
          </a:ln>
        </p:spPr>
      </p:sp>
      <p:pic>
        <p:nvPicPr>
          <p:cNvPr id="14" name="Reason 2 icon" descr="Reason 2">    </p:cNvPr>
          <p:cNvPicPr>
            <a:picLocks noChangeAspect="1"/>
          </p:cNvPicPr>
          <p:nvPr/>
        </p:nvPicPr>
        <p:blipFill>
          <a:blip r:embed="rId2"/>
          <a:stretch>
            <a:fillRect/>
          </a:stretch>
        </p:blipFill>
        <p:spPr>
          <a:xfrm>
            <a:off x="3770254" y="2572390"/>
            <a:ext cx="286756" cy="286756"/>
          </a:xfrm>
          <a:prstGeom prst="rect">
            <a:avLst/>
          </a:prstGeom>
        </p:spPr>
      </p:pic>
      <p:sp>
        <p:nvSpPr>
          <p:cNvPr id="15" name="Reason heading 2"/>
          <p:cNvSpPr txBox="1"/>
          <p:nvPr/>
        </p:nvSpPr>
        <p:spPr>
          <a:xfrm>
            <a:off x="4343400" y="2313432"/>
            <a:ext cx="4114800" cy="274320"/>
          </a:xfrm>
          <a:prstGeom prst="rect">
            <a:avLst/>
          </a:prstGeom>
          <a:noFill/>
          <a:ln/>
        </p:spPr>
        <p:txBody>
          <a:bodyPr wrap="square" lIns="0" tIns="0" rIns="0" bIns="0" rtlCol="0" anchor="ctr"/>
          <a:lstStyle/>
          <a:p>
            <a:pPr indent="0" marL="0">
              <a:buNone/>
            </a:pPr>
            <a:r>
              <a:rPr lang="en-US" sz="1600" b="1" dirty="0">
                <a:solidFill>
                  <a:schemeClr val="tx2"/>
                </a:solidFill>
              </a:rPr>
              <a:t>Cost you can see</a:t>
            </a:r>
            <a:endParaRPr lang="en-US" sz="1600" dirty="0"/>
          </a:p>
        </p:txBody>
      </p:sp>
      <p:sp>
        <p:nvSpPr>
          <p:cNvPr id="16" name="Reason text 2"/>
          <p:cNvSpPr txBox="1"/>
          <p:nvPr/>
        </p:nvSpPr>
        <p:spPr>
          <a:xfrm>
            <a:off x="4343400" y="2606040"/>
            <a:ext cx="4114800" cy="521208"/>
          </a:xfrm>
          <a:prstGeom prst="rect">
            <a:avLst/>
          </a:prstGeom>
          <a:noFill/>
          <a:ln/>
        </p:spPr>
        <p:txBody>
          <a:bodyPr wrap="square" lIns="0" tIns="0" rIns="0" bIns="0" rtlCol="0" anchor="t"/>
          <a:lstStyle/>
          <a:p>
            <a:pPr indent="0" marL="0">
              <a:buNone/>
            </a:pPr>
            <a:r>
              <a:rPr lang="en-US" sz="1400" dirty="0">
                <a:solidFill>
                  <a:schemeClr val="tx1"/>
                </a:solidFill>
              </a:rPr>
              <a:t>Counters tally comparisons, so Big-O stops being a formula and becomes a number.</a:t>
            </a:r>
            <a:endParaRPr lang="en-US" sz="1400" dirty="0"/>
          </a:p>
        </p:txBody>
      </p:sp>
      <p:sp>
        <p:nvSpPr>
          <p:cNvPr id="17" name="Reason card 3"/>
          <p:cNvSpPr/>
          <p:nvPr/>
        </p:nvSpPr>
        <p:spPr>
          <a:xfrm>
            <a:off x="3474720" y="3282696"/>
            <a:ext cx="5120640" cy="914400"/>
          </a:xfrm>
          <a:prstGeom prst="roundRect">
            <a:avLst>
              <a:gd name="adj" fmla="val 10000"/>
            </a:avLst>
          </a:prstGeom>
          <a:solidFill>
            <a:schemeClr val="bg2"/>
          </a:solidFill>
          <a:ln w="12700">
            <a:solidFill>
              <a:schemeClr val="bg2"/>
            </a:solidFill>
            <a:prstDash val="solid"/>
          </a:ln>
        </p:spPr>
      </p:sp>
      <p:sp>
        <p:nvSpPr>
          <p:cNvPr id="18" name="Reason 3 circle"/>
          <p:cNvSpPr/>
          <p:nvPr/>
        </p:nvSpPr>
        <p:spPr>
          <a:xfrm>
            <a:off x="3657600" y="3483864"/>
            <a:ext cx="512064" cy="512064"/>
          </a:xfrm>
          <a:prstGeom prst="ellipse">
            <a:avLst/>
          </a:prstGeom>
          <a:solidFill>
            <a:schemeClr val="accent1"/>
          </a:solidFill>
          <a:ln w="12700">
            <a:solidFill>
              <a:schemeClr val="accent1"/>
            </a:solidFill>
            <a:prstDash val="solid"/>
          </a:ln>
        </p:spPr>
      </p:sp>
      <p:pic>
        <p:nvPicPr>
          <p:cNvPr id="19" name="Reason 3 icon" descr="Reason 3">    </p:cNvPr>
          <p:cNvPicPr>
            <a:picLocks noChangeAspect="1"/>
          </p:cNvPicPr>
          <p:nvPr/>
        </p:nvPicPr>
        <p:blipFill>
          <a:blip r:embed="rId3"/>
          <a:stretch>
            <a:fillRect/>
          </a:stretch>
        </p:blipFill>
        <p:spPr>
          <a:xfrm>
            <a:off x="3770254" y="3596518"/>
            <a:ext cx="286756" cy="286756"/>
          </a:xfrm>
          <a:prstGeom prst="rect">
            <a:avLst/>
          </a:prstGeom>
        </p:spPr>
      </p:pic>
      <p:sp>
        <p:nvSpPr>
          <p:cNvPr id="20" name="Reason heading 3"/>
          <p:cNvSpPr txBox="1"/>
          <p:nvPr/>
        </p:nvSpPr>
        <p:spPr>
          <a:xfrm>
            <a:off x="4343400" y="3337560"/>
            <a:ext cx="4114800" cy="274320"/>
          </a:xfrm>
          <a:prstGeom prst="rect">
            <a:avLst/>
          </a:prstGeom>
          <a:noFill/>
          <a:ln/>
        </p:spPr>
        <p:txBody>
          <a:bodyPr wrap="square" lIns="0" tIns="0" rIns="0" bIns="0" rtlCol="0" anchor="ctr"/>
          <a:lstStyle/>
          <a:p>
            <a:pPr indent="0" marL="0">
              <a:buNone/>
            </a:pPr>
            <a:r>
              <a:rPr lang="en-US" sz="1600" b="1" dirty="0">
                <a:solidFill>
                  <a:schemeClr val="tx2"/>
                </a:solidFill>
              </a:rPr>
              <a:t>Find similar records</a:t>
            </a:r>
            <a:endParaRPr lang="en-US" sz="1600" dirty="0"/>
          </a:p>
        </p:txBody>
      </p:sp>
      <p:sp>
        <p:nvSpPr>
          <p:cNvPr id="21" name="Reason text 3"/>
          <p:cNvSpPr txBox="1"/>
          <p:nvPr/>
        </p:nvSpPr>
        <p:spPr>
          <a:xfrm>
            <a:off x="4343400" y="3630168"/>
            <a:ext cx="4114800" cy="521208"/>
          </a:xfrm>
          <a:prstGeom prst="rect">
            <a:avLst/>
          </a:prstGeom>
          <a:noFill/>
          <a:ln/>
        </p:spPr>
        <p:txBody>
          <a:bodyPr wrap="square" lIns="0" tIns="0" rIns="0" bIns="0" rtlCol="0" anchor="t"/>
          <a:lstStyle/>
          <a:p>
            <a:pPr indent="0" marL="0">
              <a:buNone/>
            </a:pPr>
            <a:r>
              <a:rPr lang="en-US" sz="1400" dirty="0">
                <a:solidFill>
                  <a:schemeClr val="tx1"/>
                </a:solidFill>
              </a:rPr>
              <a:t>Edit distance finds the nearest crop even when the search word has a typo.</a:t>
            </a:r>
            <a:endParaRPr lang="en-US" sz="1400" dirty="0"/>
          </a:p>
        </p:txBody>
      </p:sp>
      <p:sp>
        <p:nvSpPr>
          <p:cNvPr id="22" name="Endpoints line"/>
          <p:cNvSpPr txBox="1"/>
          <p:nvPr/>
        </p:nvSpPr>
        <p:spPr>
          <a:xfrm>
            <a:off x="548640" y="4297680"/>
            <a:ext cx="8046720" cy="411480"/>
          </a:xfrm>
          <a:prstGeom prst="rect">
            <a:avLst/>
          </a:prstGeom>
          <a:noFill/>
          <a:ln/>
        </p:spPr>
        <p:txBody>
          <a:bodyPr wrap="square" lIns="0" tIns="0" rIns="0" bIns="0" rtlCol="0" anchor="ctr"/>
          <a:lstStyle/>
          <a:p>
            <a:pPr indent="0" marL="0">
              <a:buNone/>
            </a:pPr>
            <a:r>
              <a:rPr lang="en-US" sz="1400" b="1" dirty="0">
                <a:solidFill>
                  <a:schemeClr val="accent1"/>
                </a:solidFill>
              </a:rPr>
              <a:t>In AgriFlow:  </a:t>
            </a:r>
            <a:pPr indent="0" marL="0">
              <a:buNone/>
            </a:pPr>
            <a:r>
              <a:rPr lang="en-US" sz="1400" dirty="0">
                <a:solidFill>
                  <a:schemeClr val="tx1"/>
                </a:solidFill>
              </a:rPr>
              <a:t>/api/engine    /api/similar    /api/health</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200" b="1" dirty="0">
                <a:solidFill>
                  <a:schemeClr val="tx2"/>
                </a:solidFill>
              </a:rPr>
              <a:t>Why Module 2 is used</a:t>
            </a:r>
            <a:endParaRPr lang="en-US" sz="3200" dirty="0"/>
          </a:p>
        </p:txBody>
      </p:sp>
      <p:sp>
        <p:nvSpPr>
          <p:cNvPr id="3" name="Module panel"/>
          <p:cNvSpPr/>
          <p:nvPr/>
        </p:nvSpPr>
        <p:spPr>
          <a:xfrm>
            <a:off x="548640" y="1234440"/>
            <a:ext cx="2743200" cy="2962656"/>
          </a:xfrm>
          <a:prstGeom prst="roundRect">
            <a:avLst>
              <a:gd name="adj" fmla="val 4000"/>
            </a:avLst>
          </a:prstGeom>
          <a:solidFill>
            <a:schemeClr val="tx2"/>
          </a:solidFill>
          <a:ln w="12700">
            <a:solidFill>
              <a:schemeClr val="tx2"/>
            </a:solidFill>
            <a:prstDash val="solid"/>
          </a:ln>
        </p:spPr>
      </p:sp>
      <p:sp>
        <p:nvSpPr>
          <p:cNvPr id="4" name="Module number"/>
          <p:cNvSpPr txBox="1"/>
          <p:nvPr/>
        </p:nvSpPr>
        <p:spPr>
          <a:xfrm>
            <a:off x="777240" y="1325880"/>
            <a:ext cx="2286000" cy="822960"/>
          </a:xfrm>
          <a:prstGeom prst="rect">
            <a:avLst/>
          </a:prstGeom>
          <a:noFill/>
          <a:ln/>
        </p:spPr>
        <p:txBody>
          <a:bodyPr wrap="square" lIns="0" tIns="0" rIns="0" bIns="0" rtlCol="0" anchor="ctr"/>
          <a:lstStyle/>
          <a:p>
            <a:pPr indent="0" marL="0">
              <a:buNone/>
            </a:pPr>
            <a:r>
              <a:rPr lang="en-US" sz="4800" b="1" dirty="0">
                <a:solidFill>
                  <a:schemeClr val="accent2"/>
                </a:solidFill>
              </a:rPr>
              <a:t>M2</a:t>
            </a:r>
            <a:endParaRPr lang="en-US" sz="4800" dirty="0"/>
          </a:p>
        </p:txBody>
      </p:sp>
      <p:sp>
        <p:nvSpPr>
          <p:cNvPr id="5" name="Module name"/>
          <p:cNvSpPr txBox="1"/>
          <p:nvPr/>
        </p:nvSpPr>
        <p:spPr>
          <a:xfrm>
            <a:off x="777240" y="2148840"/>
            <a:ext cx="2286000" cy="685800"/>
          </a:xfrm>
          <a:prstGeom prst="rect">
            <a:avLst/>
          </a:prstGeom>
          <a:noFill/>
          <a:ln/>
        </p:spPr>
        <p:txBody>
          <a:bodyPr wrap="square" lIns="0" tIns="0" rIns="0" bIns="0" rtlCol="0" anchor="t"/>
          <a:lstStyle/>
          <a:p>
            <a:pPr indent="0" marL="0">
              <a:buNone/>
            </a:pPr>
            <a:r>
              <a:rPr lang="en-US" sz="1800" b="1" dirty="0">
                <a:solidFill>
                  <a:schemeClr val="bg1"/>
                </a:solidFill>
              </a:rPr>
              <a:t>String algorithms</a:t>
            </a:r>
            <a:endParaRPr lang="en-US" sz="1800" dirty="0"/>
          </a:p>
        </p:txBody>
      </p:sp>
      <p:sp>
        <p:nvSpPr>
          <p:cNvPr id="6" name="Module topics"/>
          <p:cNvSpPr txBox="1"/>
          <p:nvPr/>
        </p:nvSpPr>
        <p:spPr>
          <a:xfrm>
            <a:off x="777240" y="2880360"/>
            <a:ext cx="2286000" cy="1188720"/>
          </a:xfrm>
          <a:prstGeom prst="rect">
            <a:avLst/>
          </a:prstGeom>
          <a:noFill/>
          <a:ln/>
        </p:spPr>
        <p:txBody>
          <a:bodyPr wrap="square" lIns="0" tIns="0" rIns="0" bIns="0" rtlCol="0" anchor="t"/>
          <a:lstStyle/>
          <a:p>
            <a:pPr indent="0" marL="0">
              <a:buNone/>
            </a:pPr>
            <a:r>
              <a:rPr lang="en-US" sz="1200" dirty="0">
                <a:solidFill>
                  <a:schemeClr val="bg2"/>
                </a:solidFill>
              </a:rPr>
              <a:t>KMP, Z-function, Rabin-Karp, Aho-Corasick, suffix array, LCP</a:t>
            </a:r>
            <a:endParaRPr lang="en-US" sz="1200" dirty="0"/>
          </a:p>
        </p:txBody>
      </p:sp>
      <p:sp>
        <p:nvSpPr>
          <p:cNvPr id="7" name="Reason card 1"/>
          <p:cNvSpPr/>
          <p:nvPr/>
        </p:nvSpPr>
        <p:spPr>
          <a:xfrm>
            <a:off x="3474720" y="1234440"/>
            <a:ext cx="5120640" cy="914400"/>
          </a:xfrm>
          <a:prstGeom prst="roundRect">
            <a:avLst>
              <a:gd name="adj" fmla="val 10000"/>
            </a:avLst>
          </a:prstGeom>
          <a:solidFill>
            <a:schemeClr val="bg2"/>
          </a:solidFill>
          <a:ln w="12700">
            <a:solidFill>
              <a:schemeClr val="bg2"/>
            </a:solidFill>
            <a:prstDash val="solid"/>
          </a:ln>
        </p:spPr>
      </p:sp>
      <p:sp>
        <p:nvSpPr>
          <p:cNvPr id="8" name="Reason 1 circle"/>
          <p:cNvSpPr/>
          <p:nvPr/>
        </p:nvSpPr>
        <p:spPr>
          <a:xfrm>
            <a:off x="3657600" y="1435608"/>
            <a:ext cx="512064" cy="512064"/>
          </a:xfrm>
          <a:prstGeom prst="ellipse">
            <a:avLst/>
          </a:prstGeom>
          <a:solidFill>
            <a:schemeClr val="accent1"/>
          </a:solidFill>
          <a:ln w="12700">
            <a:solidFill>
              <a:schemeClr val="accent1"/>
            </a:solidFill>
            <a:prstDash val="solid"/>
          </a:ln>
        </p:spPr>
      </p:sp>
      <p:pic>
        <p:nvPicPr>
          <p:cNvPr id="9" name="Reason 1 icon" descr="Reason 1">    </p:cNvPr>
          <p:cNvPicPr>
            <a:picLocks noChangeAspect="1"/>
          </p:cNvPicPr>
          <p:nvPr/>
        </p:nvPicPr>
        <p:blipFill>
          <a:blip r:embed="rId1"/>
          <a:stretch>
            <a:fillRect/>
          </a:stretch>
        </p:blipFill>
        <p:spPr>
          <a:xfrm>
            <a:off x="3770254" y="1548262"/>
            <a:ext cx="286756" cy="286756"/>
          </a:xfrm>
          <a:prstGeom prst="rect">
            <a:avLst/>
          </a:prstGeom>
        </p:spPr>
      </p:pic>
      <p:sp>
        <p:nvSpPr>
          <p:cNvPr id="10" name="Reason heading 1"/>
          <p:cNvSpPr txBox="1"/>
          <p:nvPr/>
        </p:nvSpPr>
        <p:spPr>
          <a:xfrm>
            <a:off x="4343400" y="1289304"/>
            <a:ext cx="4114800" cy="274320"/>
          </a:xfrm>
          <a:prstGeom prst="rect">
            <a:avLst/>
          </a:prstGeom>
          <a:noFill/>
          <a:ln/>
        </p:spPr>
        <p:txBody>
          <a:bodyPr wrap="square" lIns="0" tIns="0" rIns="0" bIns="0" rtlCol="0" anchor="ctr"/>
          <a:lstStyle/>
          <a:p>
            <a:pPr indent="0" marL="0">
              <a:buNone/>
            </a:pPr>
            <a:r>
              <a:rPr lang="en-US" sz="1600" b="1" dirty="0">
                <a:solidFill>
                  <a:schemeClr val="tx2"/>
                </a:solidFill>
              </a:rPr>
              <a:t>Search one word fast</a:t>
            </a:r>
            <a:endParaRPr lang="en-US" sz="1600" dirty="0"/>
          </a:p>
        </p:txBody>
      </p:sp>
      <p:sp>
        <p:nvSpPr>
          <p:cNvPr id="11" name="Reason text 1"/>
          <p:cNvSpPr txBox="1"/>
          <p:nvPr/>
        </p:nvSpPr>
        <p:spPr>
          <a:xfrm>
            <a:off x="4343400" y="1581912"/>
            <a:ext cx="4114800" cy="521208"/>
          </a:xfrm>
          <a:prstGeom prst="rect">
            <a:avLst/>
          </a:prstGeom>
          <a:noFill/>
          <a:ln/>
        </p:spPr>
        <p:txBody>
          <a:bodyPr wrap="square" lIns="0" tIns="0" rIns="0" bIns="0" rtlCol="0" anchor="t"/>
          <a:lstStyle/>
          <a:p>
            <a:pPr indent="0" marL="0">
              <a:buNone/>
            </a:pPr>
            <a:r>
              <a:rPr lang="en-US" sz="1400" dirty="0">
                <a:solidFill>
                  <a:schemeClr val="tx1"/>
                </a:solidFill>
              </a:rPr>
              <a:t>KMP and Z never re-read letters they already matched, so the cost is O(n + m).</a:t>
            </a:r>
            <a:endParaRPr lang="en-US" sz="1400" dirty="0"/>
          </a:p>
        </p:txBody>
      </p:sp>
      <p:sp>
        <p:nvSpPr>
          <p:cNvPr id="12" name="Reason card 2"/>
          <p:cNvSpPr/>
          <p:nvPr/>
        </p:nvSpPr>
        <p:spPr>
          <a:xfrm>
            <a:off x="3474720" y="2258568"/>
            <a:ext cx="5120640" cy="914400"/>
          </a:xfrm>
          <a:prstGeom prst="roundRect">
            <a:avLst>
              <a:gd name="adj" fmla="val 10000"/>
            </a:avLst>
          </a:prstGeom>
          <a:solidFill>
            <a:schemeClr val="bg2"/>
          </a:solidFill>
          <a:ln w="12700">
            <a:solidFill>
              <a:schemeClr val="bg2"/>
            </a:solidFill>
            <a:prstDash val="solid"/>
          </a:ln>
        </p:spPr>
      </p:sp>
      <p:sp>
        <p:nvSpPr>
          <p:cNvPr id="13" name="Reason 2 circle"/>
          <p:cNvSpPr/>
          <p:nvPr/>
        </p:nvSpPr>
        <p:spPr>
          <a:xfrm>
            <a:off x="3657600" y="2459736"/>
            <a:ext cx="512064" cy="512064"/>
          </a:xfrm>
          <a:prstGeom prst="ellipse">
            <a:avLst/>
          </a:prstGeom>
          <a:solidFill>
            <a:schemeClr val="accent1"/>
          </a:solidFill>
          <a:ln w="12700">
            <a:solidFill>
              <a:schemeClr val="accent1"/>
            </a:solidFill>
            <a:prstDash val="solid"/>
          </a:ln>
        </p:spPr>
      </p:sp>
      <p:pic>
        <p:nvPicPr>
          <p:cNvPr id="14" name="Reason 2 icon" descr="Reason 2">    </p:cNvPr>
          <p:cNvPicPr>
            <a:picLocks noChangeAspect="1"/>
          </p:cNvPicPr>
          <p:nvPr/>
        </p:nvPicPr>
        <p:blipFill>
          <a:blip r:embed="rId2"/>
          <a:stretch>
            <a:fillRect/>
          </a:stretch>
        </p:blipFill>
        <p:spPr>
          <a:xfrm>
            <a:off x="3770254" y="2572390"/>
            <a:ext cx="286756" cy="286756"/>
          </a:xfrm>
          <a:prstGeom prst="rect">
            <a:avLst/>
          </a:prstGeom>
        </p:spPr>
      </p:pic>
      <p:sp>
        <p:nvSpPr>
          <p:cNvPr id="15" name="Reason heading 2"/>
          <p:cNvSpPr txBox="1"/>
          <p:nvPr/>
        </p:nvSpPr>
        <p:spPr>
          <a:xfrm>
            <a:off x="4343400" y="2313432"/>
            <a:ext cx="4114800" cy="274320"/>
          </a:xfrm>
          <a:prstGeom prst="rect">
            <a:avLst/>
          </a:prstGeom>
          <a:noFill/>
          <a:ln/>
        </p:spPr>
        <p:txBody>
          <a:bodyPr wrap="square" lIns="0" tIns="0" rIns="0" bIns="0" rtlCol="0" anchor="ctr"/>
          <a:lstStyle/>
          <a:p>
            <a:pPr indent="0" marL="0">
              <a:buNone/>
            </a:pPr>
            <a:r>
              <a:rPr lang="en-US" sz="1600" b="1" dirty="0">
                <a:solidFill>
                  <a:schemeClr val="tx2"/>
                </a:solidFill>
              </a:rPr>
              <a:t>Search many at once</a:t>
            </a:r>
            <a:endParaRPr lang="en-US" sz="1600" dirty="0"/>
          </a:p>
        </p:txBody>
      </p:sp>
      <p:sp>
        <p:nvSpPr>
          <p:cNvPr id="16" name="Reason text 2"/>
          <p:cNvSpPr txBox="1"/>
          <p:nvPr/>
        </p:nvSpPr>
        <p:spPr>
          <a:xfrm>
            <a:off x="4343400" y="2606040"/>
            <a:ext cx="4114800" cy="521208"/>
          </a:xfrm>
          <a:prstGeom prst="rect">
            <a:avLst/>
          </a:prstGeom>
          <a:noFill/>
          <a:ln/>
        </p:spPr>
        <p:txBody>
          <a:bodyPr wrap="square" lIns="0" tIns="0" rIns="0" bIns="0" rtlCol="0" anchor="t"/>
          <a:lstStyle/>
          <a:p>
            <a:pPr indent="0" marL="0">
              <a:buNone/>
            </a:pPr>
            <a:r>
              <a:rPr lang="en-US" sz="1400" dirty="0">
                <a:solidFill>
                  <a:schemeClr val="tx1"/>
                </a:solidFill>
              </a:rPr>
              <a:t>Aho-Corasick finds every disease name in the farm text in a single pass.</a:t>
            </a:r>
            <a:endParaRPr lang="en-US" sz="1400" dirty="0"/>
          </a:p>
        </p:txBody>
      </p:sp>
      <p:sp>
        <p:nvSpPr>
          <p:cNvPr id="17" name="Reason card 3"/>
          <p:cNvSpPr/>
          <p:nvPr/>
        </p:nvSpPr>
        <p:spPr>
          <a:xfrm>
            <a:off x="3474720" y="3282696"/>
            <a:ext cx="5120640" cy="914400"/>
          </a:xfrm>
          <a:prstGeom prst="roundRect">
            <a:avLst>
              <a:gd name="adj" fmla="val 10000"/>
            </a:avLst>
          </a:prstGeom>
          <a:solidFill>
            <a:schemeClr val="bg2"/>
          </a:solidFill>
          <a:ln w="12700">
            <a:solidFill>
              <a:schemeClr val="bg2"/>
            </a:solidFill>
            <a:prstDash val="solid"/>
          </a:ln>
        </p:spPr>
      </p:sp>
      <p:sp>
        <p:nvSpPr>
          <p:cNvPr id="18" name="Reason 3 circle"/>
          <p:cNvSpPr/>
          <p:nvPr/>
        </p:nvSpPr>
        <p:spPr>
          <a:xfrm>
            <a:off x="3657600" y="3483864"/>
            <a:ext cx="512064" cy="512064"/>
          </a:xfrm>
          <a:prstGeom prst="ellipse">
            <a:avLst/>
          </a:prstGeom>
          <a:solidFill>
            <a:schemeClr val="accent1"/>
          </a:solidFill>
          <a:ln w="12700">
            <a:solidFill>
              <a:schemeClr val="accent1"/>
            </a:solidFill>
            <a:prstDash val="solid"/>
          </a:ln>
        </p:spPr>
      </p:sp>
      <p:pic>
        <p:nvPicPr>
          <p:cNvPr id="19" name="Reason 3 icon" descr="Reason 3">    </p:cNvPr>
          <p:cNvPicPr>
            <a:picLocks noChangeAspect="1"/>
          </p:cNvPicPr>
          <p:nvPr/>
        </p:nvPicPr>
        <p:blipFill>
          <a:blip r:embed="rId3"/>
          <a:stretch>
            <a:fillRect/>
          </a:stretch>
        </p:blipFill>
        <p:spPr>
          <a:xfrm>
            <a:off x="3770254" y="3596518"/>
            <a:ext cx="286756" cy="286756"/>
          </a:xfrm>
          <a:prstGeom prst="rect">
            <a:avLst/>
          </a:prstGeom>
        </p:spPr>
      </p:pic>
      <p:sp>
        <p:nvSpPr>
          <p:cNvPr id="20" name="Reason heading 3"/>
          <p:cNvSpPr txBox="1"/>
          <p:nvPr/>
        </p:nvSpPr>
        <p:spPr>
          <a:xfrm>
            <a:off x="4343400" y="3337560"/>
            <a:ext cx="4114800" cy="274320"/>
          </a:xfrm>
          <a:prstGeom prst="rect">
            <a:avLst/>
          </a:prstGeom>
          <a:noFill/>
          <a:ln/>
        </p:spPr>
        <p:txBody>
          <a:bodyPr wrap="square" lIns="0" tIns="0" rIns="0" bIns="0" rtlCol="0" anchor="ctr"/>
          <a:lstStyle/>
          <a:p>
            <a:pPr indent="0" marL="0">
              <a:buNone/>
            </a:pPr>
            <a:r>
              <a:rPr lang="en-US" sz="1600" b="1" dirty="0">
                <a:solidFill>
                  <a:schemeClr val="tx2"/>
                </a:solidFill>
              </a:rPr>
              <a:t>Spot repeats</a:t>
            </a:r>
            <a:endParaRPr lang="en-US" sz="1600" dirty="0"/>
          </a:p>
        </p:txBody>
      </p:sp>
      <p:sp>
        <p:nvSpPr>
          <p:cNvPr id="21" name="Reason text 3"/>
          <p:cNvSpPr txBox="1"/>
          <p:nvPr/>
        </p:nvSpPr>
        <p:spPr>
          <a:xfrm>
            <a:off x="4343400" y="3630168"/>
            <a:ext cx="4114800" cy="521208"/>
          </a:xfrm>
          <a:prstGeom prst="rect">
            <a:avLst/>
          </a:prstGeom>
          <a:noFill/>
          <a:ln/>
        </p:spPr>
        <p:txBody>
          <a:bodyPr wrap="square" lIns="0" tIns="0" rIns="0" bIns="0" rtlCol="0" anchor="t"/>
          <a:lstStyle/>
          <a:p>
            <a:pPr indent="0" marL="0">
              <a:buNone/>
            </a:pPr>
            <a:r>
              <a:rPr lang="en-US" sz="1400" dirty="0">
                <a:solidFill>
                  <a:schemeClr val="tx1"/>
                </a:solidFill>
              </a:rPr>
              <a:t>Suffix array and LCP give the longest repeated phrase and count distinct substrings.</a:t>
            </a:r>
            <a:endParaRPr lang="en-US" sz="1400" dirty="0"/>
          </a:p>
        </p:txBody>
      </p:sp>
      <p:sp>
        <p:nvSpPr>
          <p:cNvPr id="22" name="Endpoints line"/>
          <p:cNvSpPr txBox="1"/>
          <p:nvPr/>
        </p:nvSpPr>
        <p:spPr>
          <a:xfrm>
            <a:off x="548640" y="4297680"/>
            <a:ext cx="8046720" cy="411480"/>
          </a:xfrm>
          <a:prstGeom prst="rect">
            <a:avLst/>
          </a:prstGeom>
          <a:noFill/>
          <a:ln/>
        </p:spPr>
        <p:txBody>
          <a:bodyPr wrap="square" lIns="0" tIns="0" rIns="0" bIns="0" rtlCol="0" anchor="ctr"/>
          <a:lstStyle/>
          <a:p>
            <a:pPr indent="0" marL="0">
              <a:buNone/>
            </a:pPr>
            <a:r>
              <a:rPr lang="en-US" sz="1400" b="1" dirty="0">
                <a:solidFill>
                  <a:schemeClr val="accent1"/>
                </a:solidFill>
              </a:rPr>
              <a:t>In AgriFlow:  </a:t>
            </a:r>
            <a:pPr indent="0" marL="0">
              <a:buNone/>
            </a:pPr>
            <a:r>
              <a:rPr lang="en-US" sz="1400" dirty="0">
                <a:solidFill>
                  <a:schemeClr val="tx1"/>
                </a:solidFill>
              </a:rPr>
              <a:t>/api/search   /race   /multi   /strlab   /suffix   /repeats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200" b="1" dirty="0">
                <a:solidFill>
                  <a:schemeClr val="tx2"/>
                </a:solidFill>
              </a:rPr>
              <a:t>Why Module 3 is used</a:t>
            </a:r>
            <a:endParaRPr lang="en-US" sz="3200" dirty="0"/>
          </a:p>
        </p:txBody>
      </p:sp>
      <p:sp>
        <p:nvSpPr>
          <p:cNvPr id="3" name="Module panel"/>
          <p:cNvSpPr/>
          <p:nvPr/>
        </p:nvSpPr>
        <p:spPr>
          <a:xfrm>
            <a:off x="548640" y="1234440"/>
            <a:ext cx="2743200" cy="2962656"/>
          </a:xfrm>
          <a:prstGeom prst="roundRect">
            <a:avLst>
              <a:gd name="adj" fmla="val 4000"/>
            </a:avLst>
          </a:prstGeom>
          <a:solidFill>
            <a:schemeClr val="tx2"/>
          </a:solidFill>
          <a:ln w="12700">
            <a:solidFill>
              <a:schemeClr val="tx2"/>
            </a:solidFill>
            <a:prstDash val="solid"/>
          </a:ln>
        </p:spPr>
      </p:sp>
      <p:sp>
        <p:nvSpPr>
          <p:cNvPr id="4" name="Module number"/>
          <p:cNvSpPr txBox="1"/>
          <p:nvPr/>
        </p:nvSpPr>
        <p:spPr>
          <a:xfrm>
            <a:off x="777240" y="1325880"/>
            <a:ext cx="2286000" cy="822960"/>
          </a:xfrm>
          <a:prstGeom prst="rect">
            <a:avLst/>
          </a:prstGeom>
          <a:noFill/>
          <a:ln/>
        </p:spPr>
        <p:txBody>
          <a:bodyPr wrap="square" lIns="0" tIns="0" rIns="0" bIns="0" rtlCol="0" anchor="ctr"/>
          <a:lstStyle/>
          <a:p>
            <a:pPr indent="0" marL="0">
              <a:buNone/>
            </a:pPr>
            <a:r>
              <a:rPr lang="en-US" sz="4800" b="1" dirty="0">
                <a:solidFill>
                  <a:schemeClr val="accent2"/>
                </a:solidFill>
              </a:rPr>
              <a:t>M3</a:t>
            </a:r>
            <a:endParaRPr lang="en-US" sz="4800" dirty="0"/>
          </a:p>
        </p:txBody>
      </p:sp>
      <p:sp>
        <p:nvSpPr>
          <p:cNvPr id="5" name="Module name"/>
          <p:cNvSpPr txBox="1"/>
          <p:nvPr/>
        </p:nvSpPr>
        <p:spPr>
          <a:xfrm>
            <a:off x="777240" y="2148840"/>
            <a:ext cx="2286000" cy="685800"/>
          </a:xfrm>
          <a:prstGeom prst="rect">
            <a:avLst/>
          </a:prstGeom>
          <a:noFill/>
          <a:ln/>
        </p:spPr>
        <p:txBody>
          <a:bodyPr wrap="square" lIns="0" tIns="0" rIns="0" bIns="0" rtlCol="0" anchor="t"/>
          <a:lstStyle/>
          <a:p>
            <a:pPr indent="0" marL="0">
              <a:buNone/>
            </a:pPr>
            <a:r>
              <a:rPr lang="en-US" sz="1800" b="1" dirty="0">
                <a:solidFill>
                  <a:schemeClr val="bg1"/>
                </a:solidFill>
              </a:rPr>
              <a:t>Advanced dynamic programming</a:t>
            </a:r>
            <a:endParaRPr lang="en-US" sz="1800" dirty="0"/>
          </a:p>
        </p:txBody>
      </p:sp>
      <p:sp>
        <p:nvSpPr>
          <p:cNvPr id="6" name="Module topics"/>
          <p:cNvSpPr txBox="1"/>
          <p:nvPr/>
        </p:nvSpPr>
        <p:spPr>
          <a:xfrm>
            <a:off x="777240" y="2880360"/>
            <a:ext cx="2286000" cy="1188720"/>
          </a:xfrm>
          <a:prstGeom prst="rect">
            <a:avLst/>
          </a:prstGeom>
          <a:noFill/>
          <a:ln/>
        </p:spPr>
        <p:txBody>
          <a:bodyPr wrap="square" lIns="0" tIns="0" rIns="0" bIns="0" rtlCol="0" anchor="t"/>
          <a:lstStyle/>
          <a:p>
            <a:pPr indent="0" marL="0">
              <a:buNone/>
            </a:pPr>
            <a:r>
              <a:rPr lang="en-US" sz="1200" dirty="0">
                <a:solidFill>
                  <a:schemeClr val="bg2"/>
                </a:solidFill>
              </a:rPr>
              <a:t>Edit distance, alignment, matrix-chain, optimal BST, TSP, set cover, tree DP</a:t>
            </a:r>
            <a:endParaRPr lang="en-US" sz="1200" dirty="0"/>
          </a:p>
        </p:txBody>
      </p:sp>
      <p:sp>
        <p:nvSpPr>
          <p:cNvPr id="7" name="Reason card 1"/>
          <p:cNvSpPr/>
          <p:nvPr/>
        </p:nvSpPr>
        <p:spPr>
          <a:xfrm>
            <a:off x="3474720" y="1234440"/>
            <a:ext cx="5120640" cy="914400"/>
          </a:xfrm>
          <a:prstGeom prst="roundRect">
            <a:avLst>
              <a:gd name="adj" fmla="val 10000"/>
            </a:avLst>
          </a:prstGeom>
          <a:solidFill>
            <a:schemeClr val="bg2"/>
          </a:solidFill>
          <a:ln w="12700">
            <a:solidFill>
              <a:schemeClr val="bg2"/>
            </a:solidFill>
            <a:prstDash val="solid"/>
          </a:ln>
        </p:spPr>
      </p:sp>
      <p:sp>
        <p:nvSpPr>
          <p:cNvPr id="8" name="Reason 1 circle"/>
          <p:cNvSpPr/>
          <p:nvPr/>
        </p:nvSpPr>
        <p:spPr>
          <a:xfrm>
            <a:off x="3657600" y="1435608"/>
            <a:ext cx="512064" cy="512064"/>
          </a:xfrm>
          <a:prstGeom prst="ellipse">
            <a:avLst/>
          </a:prstGeom>
          <a:solidFill>
            <a:schemeClr val="accent1"/>
          </a:solidFill>
          <a:ln w="12700">
            <a:solidFill>
              <a:schemeClr val="accent1"/>
            </a:solidFill>
            <a:prstDash val="solid"/>
          </a:ln>
        </p:spPr>
      </p:sp>
      <p:pic>
        <p:nvPicPr>
          <p:cNvPr id="9" name="Reason 1 icon" descr="Reason 1">    </p:cNvPr>
          <p:cNvPicPr>
            <a:picLocks noChangeAspect="1"/>
          </p:cNvPicPr>
          <p:nvPr/>
        </p:nvPicPr>
        <p:blipFill>
          <a:blip r:embed="rId1"/>
          <a:stretch>
            <a:fillRect/>
          </a:stretch>
        </p:blipFill>
        <p:spPr>
          <a:xfrm>
            <a:off x="3770254" y="1548262"/>
            <a:ext cx="286756" cy="286756"/>
          </a:xfrm>
          <a:prstGeom prst="rect">
            <a:avLst/>
          </a:prstGeom>
        </p:spPr>
      </p:pic>
      <p:sp>
        <p:nvSpPr>
          <p:cNvPr id="10" name="Reason heading 1"/>
          <p:cNvSpPr txBox="1"/>
          <p:nvPr/>
        </p:nvSpPr>
        <p:spPr>
          <a:xfrm>
            <a:off x="4343400" y="1289304"/>
            <a:ext cx="4114800" cy="274320"/>
          </a:xfrm>
          <a:prstGeom prst="rect">
            <a:avLst/>
          </a:prstGeom>
          <a:noFill/>
          <a:ln/>
        </p:spPr>
        <p:txBody>
          <a:bodyPr wrap="square" lIns="0" tIns="0" rIns="0" bIns="0" rtlCol="0" anchor="ctr"/>
          <a:lstStyle/>
          <a:p>
            <a:pPr indent="0" marL="0">
              <a:buNone/>
            </a:pPr>
            <a:r>
              <a:rPr lang="en-US" sz="1600" b="1" dirty="0">
                <a:solidFill>
                  <a:schemeClr val="tx2"/>
                </a:solidFill>
              </a:rPr>
              <a:t>Compare text</a:t>
            </a:r>
            <a:endParaRPr lang="en-US" sz="1600" dirty="0"/>
          </a:p>
        </p:txBody>
      </p:sp>
      <p:sp>
        <p:nvSpPr>
          <p:cNvPr id="11" name="Reason text 1"/>
          <p:cNvSpPr txBox="1"/>
          <p:nvPr/>
        </p:nvSpPr>
        <p:spPr>
          <a:xfrm>
            <a:off x="4343400" y="1581912"/>
            <a:ext cx="4114800" cy="521208"/>
          </a:xfrm>
          <a:prstGeom prst="rect">
            <a:avLst/>
          </a:prstGeom>
          <a:noFill/>
          <a:ln/>
        </p:spPr>
        <p:txBody>
          <a:bodyPr wrap="square" lIns="0" tIns="0" rIns="0" bIns="0" rtlCol="0" anchor="t"/>
          <a:lstStyle/>
          <a:p>
            <a:pPr indent="0" marL="0">
              <a:buNone/>
            </a:pPr>
            <a:r>
              <a:rPr lang="en-US" sz="1400" dirty="0">
                <a:solidFill>
                  <a:schemeClr val="tx1"/>
                </a:solidFill>
              </a:rPr>
              <a:t>Edit distance and alignment score how close two records or words really are.</a:t>
            </a:r>
            <a:endParaRPr lang="en-US" sz="1400" dirty="0"/>
          </a:p>
        </p:txBody>
      </p:sp>
      <p:sp>
        <p:nvSpPr>
          <p:cNvPr id="12" name="Reason card 2"/>
          <p:cNvSpPr/>
          <p:nvPr/>
        </p:nvSpPr>
        <p:spPr>
          <a:xfrm>
            <a:off x="3474720" y="2258568"/>
            <a:ext cx="5120640" cy="914400"/>
          </a:xfrm>
          <a:prstGeom prst="roundRect">
            <a:avLst>
              <a:gd name="adj" fmla="val 10000"/>
            </a:avLst>
          </a:prstGeom>
          <a:solidFill>
            <a:schemeClr val="bg2"/>
          </a:solidFill>
          <a:ln w="12700">
            <a:solidFill>
              <a:schemeClr val="bg2"/>
            </a:solidFill>
            <a:prstDash val="solid"/>
          </a:ln>
        </p:spPr>
      </p:sp>
      <p:sp>
        <p:nvSpPr>
          <p:cNvPr id="13" name="Reason 2 circle"/>
          <p:cNvSpPr/>
          <p:nvPr/>
        </p:nvSpPr>
        <p:spPr>
          <a:xfrm>
            <a:off x="3657600" y="2459736"/>
            <a:ext cx="512064" cy="512064"/>
          </a:xfrm>
          <a:prstGeom prst="ellipse">
            <a:avLst/>
          </a:prstGeom>
          <a:solidFill>
            <a:schemeClr val="accent1"/>
          </a:solidFill>
          <a:ln w="12700">
            <a:solidFill>
              <a:schemeClr val="accent1"/>
            </a:solidFill>
            <a:prstDash val="solid"/>
          </a:ln>
        </p:spPr>
      </p:sp>
      <p:pic>
        <p:nvPicPr>
          <p:cNvPr id="14" name="Reason 2 icon" descr="Reason 2">    </p:cNvPr>
          <p:cNvPicPr>
            <a:picLocks noChangeAspect="1"/>
          </p:cNvPicPr>
          <p:nvPr/>
        </p:nvPicPr>
        <p:blipFill>
          <a:blip r:embed="rId2"/>
          <a:stretch>
            <a:fillRect/>
          </a:stretch>
        </p:blipFill>
        <p:spPr>
          <a:xfrm>
            <a:off x="3770254" y="2572390"/>
            <a:ext cx="286756" cy="286756"/>
          </a:xfrm>
          <a:prstGeom prst="rect">
            <a:avLst/>
          </a:prstGeom>
        </p:spPr>
      </p:pic>
      <p:sp>
        <p:nvSpPr>
          <p:cNvPr id="15" name="Reason heading 2"/>
          <p:cNvSpPr txBox="1"/>
          <p:nvPr/>
        </p:nvSpPr>
        <p:spPr>
          <a:xfrm>
            <a:off x="4343400" y="2313432"/>
            <a:ext cx="4114800" cy="274320"/>
          </a:xfrm>
          <a:prstGeom prst="rect">
            <a:avLst/>
          </a:prstGeom>
          <a:noFill/>
          <a:ln/>
        </p:spPr>
        <p:txBody>
          <a:bodyPr wrap="square" lIns="0" tIns="0" rIns="0" bIns="0" rtlCol="0" anchor="ctr"/>
          <a:lstStyle/>
          <a:p>
            <a:pPr indent="0" marL="0">
              <a:buNone/>
            </a:pPr>
            <a:r>
              <a:rPr lang="en-US" sz="1600" b="1" dirty="0">
                <a:solidFill>
                  <a:schemeClr val="tx2"/>
                </a:solidFill>
              </a:rPr>
              <a:t>Plan routes</a:t>
            </a:r>
            <a:endParaRPr lang="en-US" sz="1600" dirty="0"/>
          </a:p>
        </p:txBody>
      </p:sp>
      <p:sp>
        <p:nvSpPr>
          <p:cNvPr id="16" name="Reason text 2"/>
          <p:cNvSpPr txBox="1"/>
          <p:nvPr/>
        </p:nvSpPr>
        <p:spPr>
          <a:xfrm>
            <a:off x="4343400" y="2606040"/>
            <a:ext cx="4114800" cy="521208"/>
          </a:xfrm>
          <a:prstGeom prst="rect">
            <a:avLst/>
          </a:prstGeom>
          <a:noFill/>
          <a:ln/>
        </p:spPr>
        <p:txBody>
          <a:bodyPr wrap="square" lIns="0" tIns="0" rIns="0" bIns="0" rtlCol="0" anchor="t"/>
          <a:lstStyle/>
          <a:p>
            <a:pPr indent="0" marL="0">
              <a:buNone/>
            </a:pPr>
            <a:r>
              <a:rPr lang="en-US" sz="1400" dirty="0">
                <a:solidFill>
                  <a:schemeClr val="tx1"/>
                </a:solidFill>
              </a:rPr>
              <a:t>Held-Karp finds the shortest tour through all 12 farm sites, and it is exact.</a:t>
            </a:r>
            <a:endParaRPr lang="en-US" sz="1400" dirty="0"/>
          </a:p>
        </p:txBody>
      </p:sp>
      <p:sp>
        <p:nvSpPr>
          <p:cNvPr id="17" name="Reason card 3"/>
          <p:cNvSpPr/>
          <p:nvPr/>
        </p:nvSpPr>
        <p:spPr>
          <a:xfrm>
            <a:off x="3474720" y="3282696"/>
            <a:ext cx="5120640" cy="914400"/>
          </a:xfrm>
          <a:prstGeom prst="roundRect">
            <a:avLst>
              <a:gd name="adj" fmla="val 10000"/>
            </a:avLst>
          </a:prstGeom>
          <a:solidFill>
            <a:schemeClr val="bg2"/>
          </a:solidFill>
          <a:ln w="12700">
            <a:solidFill>
              <a:schemeClr val="bg2"/>
            </a:solidFill>
            <a:prstDash val="solid"/>
          </a:ln>
        </p:spPr>
      </p:sp>
      <p:sp>
        <p:nvSpPr>
          <p:cNvPr id="18" name="Reason 3 circle"/>
          <p:cNvSpPr/>
          <p:nvPr/>
        </p:nvSpPr>
        <p:spPr>
          <a:xfrm>
            <a:off x="3657600" y="3483864"/>
            <a:ext cx="512064" cy="512064"/>
          </a:xfrm>
          <a:prstGeom prst="ellipse">
            <a:avLst/>
          </a:prstGeom>
          <a:solidFill>
            <a:schemeClr val="accent1"/>
          </a:solidFill>
          <a:ln w="12700">
            <a:solidFill>
              <a:schemeClr val="accent1"/>
            </a:solidFill>
            <a:prstDash val="solid"/>
          </a:ln>
        </p:spPr>
      </p:sp>
      <p:pic>
        <p:nvPicPr>
          <p:cNvPr id="19" name="Reason 3 icon" descr="Reason 3">    </p:cNvPr>
          <p:cNvPicPr>
            <a:picLocks noChangeAspect="1"/>
          </p:cNvPicPr>
          <p:nvPr/>
        </p:nvPicPr>
        <p:blipFill>
          <a:blip r:embed="rId3"/>
          <a:stretch>
            <a:fillRect/>
          </a:stretch>
        </p:blipFill>
        <p:spPr>
          <a:xfrm>
            <a:off x="3770254" y="3596518"/>
            <a:ext cx="286756" cy="286756"/>
          </a:xfrm>
          <a:prstGeom prst="rect">
            <a:avLst/>
          </a:prstGeom>
        </p:spPr>
      </p:pic>
      <p:sp>
        <p:nvSpPr>
          <p:cNvPr id="20" name="Reason heading 3"/>
          <p:cNvSpPr txBox="1"/>
          <p:nvPr/>
        </p:nvSpPr>
        <p:spPr>
          <a:xfrm>
            <a:off x="4343400" y="3337560"/>
            <a:ext cx="4114800" cy="274320"/>
          </a:xfrm>
          <a:prstGeom prst="rect">
            <a:avLst/>
          </a:prstGeom>
          <a:noFill/>
          <a:ln/>
        </p:spPr>
        <p:txBody>
          <a:bodyPr wrap="square" lIns="0" tIns="0" rIns="0" bIns="0" rtlCol="0" anchor="ctr"/>
          <a:lstStyle/>
          <a:p>
            <a:pPr indent="0" marL="0">
              <a:buNone/>
            </a:pPr>
            <a:r>
              <a:rPr lang="en-US" sz="1600" b="1" dirty="0">
                <a:solidFill>
                  <a:schemeClr val="tx2"/>
                </a:solidFill>
              </a:rPr>
              <a:t>Choose smartly</a:t>
            </a:r>
            <a:endParaRPr lang="en-US" sz="1600" dirty="0"/>
          </a:p>
        </p:txBody>
      </p:sp>
      <p:sp>
        <p:nvSpPr>
          <p:cNvPr id="21" name="Reason text 3"/>
          <p:cNvSpPr txBox="1"/>
          <p:nvPr/>
        </p:nvSpPr>
        <p:spPr>
          <a:xfrm>
            <a:off x="4343400" y="3630168"/>
            <a:ext cx="4114800" cy="521208"/>
          </a:xfrm>
          <a:prstGeom prst="rect">
            <a:avLst/>
          </a:prstGeom>
          <a:noFill/>
          <a:ln/>
        </p:spPr>
        <p:txBody>
          <a:bodyPr wrap="square" lIns="0" tIns="0" rIns="0" bIns="0" rtlCol="0" anchor="t"/>
          <a:lstStyle/>
          <a:p>
            <a:pPr indent="0" marL="0">
              <a:buNone/>
            </a:pPr>
            <a:r>
              <a:rPr lang="en-US" sz="1400" dirty="0">
                <a:solidFill>
                  <a:schemeClr val="tx1"/>
                </a:solidFill>
              </a:rPr>
              <a:t>Set cover, tree DP and the coin demo show when greedy fails and DP wins.</a:t>
            </a:r>
            <a:endParaRPr lang="en-US" sz="1400" dirty="0"/>
          </a:p>
        </p:txBody>
      </p:sp>
      <p:sp>
        <p:nvSpPr>
          <p:cNvPr id="22" name="Endpoints line"/>
          <p:cNvSpPr txBox="1"/>
          <p:nvPr/>
        </p:nvSpPr>
        <p:spPr>
          <a:xfrm>
            <a:off x="548640" y="4297680"/>
            <a:ext cx="8046720" cy="411480"/>
          </a:xfrm>
          <a:prstGeom prst="rect">
            <a:avLst/>
          </a:prstGeom>
          <a:noFill/>
          <a:ln/>
        </p:spPr>
        <p:txBody>
          <a:bodyPr wrap="square" lIns="0" tIns="0" rIns="0" bIns="0" rtlCol="0" anchor="ctr"/>
          <a:lstStyle/>
          <a:p>
            <a:pPr indent="0" marL="0">
              <a:buNone/>
            </a:pPr>
            <a:r>
              <a:rPr lang="en-US" sz="1400" b="1" dirty="0">
                <a:solidFill>
                  <a:schemeClr val="accent1"/>
                </a:solidFill>
              </a:rPr>
              <a:t>In AgriFlow:  </a:t>
            </a:r>
            <a:pPr indent="0" marL="0">
              <a:buNone/>
            </a:pPr>
            <a:r>
              <a:rPr lang="en-US" sz="1400" dirty="0">
                <a:solidFill>
                  <a:schemeClr val="tx1"/>
                </a:solidFill>
              </a:rPr>
              <a:t>/api/edit   /align   /route   /setcover   /tree   /sos   /greedy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200" b="1" dirty="0">
                <a:solidFill>
                  <a:schemeClr val="tx2"/>
                </a:solidFill>
              </a:rPr>
              <a:t>Why Module 4 is used</a:t>
            </a:r>
            <a:endParaRPr lang="en-US" sz="3200" dirty="0"/>
          </a:p>
        </p:txBody>
      </p:sp>
      <p:sp>
        <p:nvSpPr>
          <p:cNvPr id="3" name="Module panel"/>
          <p:cNvSpPr/>
          <p:nvPr/>
        </p:nvSpPr>
        <p:spPr>
          <a:xfrm>
            <a:off x="548640" y="1234440"/>
            <a:ext cx="2743200" cy="2962656"/>
          </a:xfrm>
          <a:prstGeom prst="roundRect">
            <a:avLst>
              <a:gd name="adj" fmla="val 4000"/>
            </a:avLst>
          </a:prstGeom>
          <a:solidFill>
            <a:schemeClr val="tx2"/>
          </a:solidFill>
          <a:ln w="12700">
            <a:solidFill>
              <a:schemeClr val="tx2"/>
            </a:solidFill>
            <a:prstDash val="solid"/>
          </a:ln>
        </p:spPr>
      </p:sp>
      <p:sp>
        <p:nvSpPr>
          <p:cNvPr id="4" name="Module number"/>
          <p:cNvSpPr txBox="1"/>
          <p:nvPr/>
        </p:nvSpPr>
        <p:spPr>
          <a:xfrm>
            <a:off x="777240" y="1325880"/>
            <a:ext cx="2286000" cy="822960"/>
          </a:xfrm>
          <a:prstGeom prst="rect">
            <a:avLst/>
          </a:prstGeom>
          <a:noFill/>
          <a:ln/>
        </p:spPr>
        <p:txBody>
          <a:bodyPr wrap="square" lIns="0" tIns="0" rIns="0" bIns="0" rtlCol="0" anchor="ctr"/>
          <a:lstStyle/>
          <a:p>
            <a:pPr indent="0" marL="0">
              <a:buNone/>
            </a:pPr>
            <a:r>
              <a:rPr lang="en-US" sz="4800" b="1" dirty="0">
                <a:solidFill>
                  <a:schemeClr val="accent2"/>
                </a:solidFill>
              </a:rPr>
              <a:t>M4</a:t>
            </a:r>
            <a:endParaRPr lang="en-US" sz="4800" dirty="0"/>
          </a:p>
        </p:txBody>
      </p:sp>
      <p:sp>
        <p:nvSpPr>
          <p:cNvPr id="5" name="Module name"/>
          <p:cNvSpPr txBox="1"/>
          <p:nvPr/>
        </p:nvSpPr>
        <p:spPr>
          <a:xfrm>
            <a:off x="777240" y="2148840"/>
            <a:ext cx="2286000" cy="685800"/>
          </a:xfrm>
          <a:prstGeom prst="rect">
            <a:avLst/>
          </a:prstGeom>
          <a:noFill/>
          <a:ln/>
        </p:spPr>
        <p:txBody>
          <a:bodyPr wrap="square" lIns="0" tIns="0" rIns="0" bIns="0" rtlCol="0" anchor="t"/>
          <a:lstStyle/>
          <a:p>
            <a:pPr indent="0" marL="0">
              <a:buNone/>
            </a:pPr>
            <a:r>
              <a:rPr lang="en-US" sz="1800" b="1" dirty="0">
                <a:solidFill>
                  <a:schemeClr val="bg1"/>
                </a:solidFill>
              </a:rPr>
              <a:t>Network flow</a:t>
            </a:r>
            <a:endParaRPr lang="en-US" sz="1800" dirty="0"/>
          </a:p>
        </p:txBody>
      </p:sp>
      <p:sp>
        <p:nvSpPr>
          <p:cNvPr id="6" name="Module topics"/>
          <p:cNvSpPr txBox="1"/>
          <p:nvPr/>
        </p:nvSpPr>
        <p:spPr>
          <a:xfrm>
            <a:off x="777240" y="2880360"/>
            <a:ext cx="2286000" cy="1188720"/>
          </a:xfrm>
          <a:prstGeom prst="rect">
            <a:avLst/>
          </a:prstGeom>
          <a:noFill/>
          <a:ln/>
        </p:spPr>
        <p:txBody>
          <a:bodyPr wrap="square" lIns="0" tIns="0" rIns="0" bIns="0" rtlCol="0" anchor="t"/>
          <a:lstStyle/>
          <a:p>
            <a:pPr indent="0" marL="0">
              <a:buNone/>
            </a:pPr>
            <a:r>
              <a:rPr lang="en-US" sz="1200" dirty="0">
                <a:solidFill>
                  <a:schemeClr val="bg2"/>
                </a:solidFill>
              </a:rPr>
              <a:t>Edmonds-Karp, Dinic, min-cut, min-cost flow, bipartite matching, project selection</a:t>
            </a:r>
            <a:endParaRPr lang="en-US" sz="1200" dirty="0"/>
          </a:p>
        </p:txBody>
      </p:sp>
      <p:sp>
        <p:nvSpPr>
          <p:cNvPr id="7" name="Reason card 1"/>
          <p:cNvSpPr/>
          <p:nvPr/>
        </p:nvSpPr>
        <p:spPr>
          <a:xfrm>
            <a:off x="3474720" y="1234440"/>
            <a:ext cx="5120640" cy="914400"/>
          </a:xfrm>
          <a:prstGeom prst="roundRect">
            <a:avLst>
              <a:gd name="adj" fmla="val 10000"/>
            </a:avLst>
          </a:prstGeom>
          <a:solidFill>
            <a:schemeClr val="bg2"/>
          </a:solidFill>
          <a:ln w="12700">
            <a:solidFill>
              <a:schemeClr val="bg2"/>
            </a:solidFill>
            <a:prstDash val="solid"/>
          </a:ln>
        </p:spPr>
      </p:sp>
      <p:sp>
        <p:nvSpPr>
          <p:cNvPr id="8" name="Reason 1 circle"/>
          <p:cNvSpPr/>
          <p:nvPr/>
        </p:nvSpPr>
        <p:spPr>
          <a:xfrm>
            <a:off x="3657600" y="1435608"/>
            <a:ext cx="512064" cy="512064"/>
          </a:xfrm>
          <a:prstGeom prst="ellipse">
            <a:avLst/>
          </a:prstGeom>
          <a:solidFill>
            <a:schemeClr val="accent1"/>
          </a:solidFill>
          <a:ln w="12700">
            <a:solidFill>
              <a:schemeClr val="accent1"/>
            </a:solidFill>
            <a:prstDash val="solid"/>
          </a:ln>
        </p:spPr>
      </p:sp>
      <p:pic>
        <p:nvPicPr>
          <p:cNvPr id="9" name="Reason 1 icon" descr="Reason 1">    </p:cNvPr>
          <p:cNvPicPr>
            <a:picLocks noChangeAspect="1"/>
          </p:cNvPicPr>
          <p:nvPr/>
        </p:nvPicPr>
        <p:blipFill>
          <a:blip r:embed="rId1"/>
          <a:stretch>
            <a:fillRect/>
          </a:stretch>
        </p:blipFill>
        <p:spPr>
          <a:xfrm>
            <a:off x="3770254" y="1548262"/>
            <a:ext cx="286756" cy="286756"/>
          </a:xfrm>
          <a:prstGeom prst="rect">
            <a:avLst/>
          </a:prstGeom>
        </p:spPr>
      </p:pic>
      <p:sp>
        <p:nvSpPr>
          <p:cNvPr id="10" name="Reason heading 1"/>
          <p:cNvSpPr txBox="1"/>
          <p:nvPr/>
        </p:nvSpPr>
        <p:spPr>
          <a:xfrm>
            <a:off x="4343400" y="1289304"/>
            <a:ext cx="4114800" cy="274320"/>
          </a:xfrm>
          <a:prstGeom prst="rect">
            <a:avLst/>
          </a:prstGeom>
          <a:noFill/>
          <a:ln/>
        </p:spPr>
        <p:txBody>
          <a:bodyPr wrap="square" lIns="0" tIns="0" rIns="0" bIns="0" rtlCol="0" anchor="ctr"/>
          <a:lstStyle/>
          <a:p>
            <a:pPr indent="0" marL="0">
              <a:buNone/>
            </a:pPr>
            <a:r>
              <a:rPr lang="en-US" sz="1600" b="1" dirty="0">
                <a:solidFill>
                  <a:schemeClr val="tx2"/>
                </a:solidFill>
              </a:rPr>
              <a:t>Max flow, min cut</a:t>
            </a:r>
            <a:endParaRPr lang="en-US" sz="1600" dirty="0"/>
          </a:p>
        </p:txBody>
      </p:sp>
      <p:sp>
        <p:nvSpPr>
          <p:cNvPr id="11" name="Reason text 1"/>
          <p:cNvSpPr txBox="1"/>
          <p:nvPr/>
        </p:nvSpPr>
        <p:spPr>
          <a:xfrm>
            <a:off x="4343400" y="1581912"/>
            <a:ext cx="4114800" cy="521208"/>
          </a:xfrm>
          <a:prstGeom prst="rect">
            <a:avLst/>
          </a:prstGeom>
          <a:noFill/>
          <a:ln/>
        </p:spPr>
        <p:txBody>
          <a:bodyPr wrap="square" lIns="0" tIns="0" rIns="0" bIns="0" rtlCol="0" anchor="t"/>
          <a:lstStyle/>
          <a:p>
            <a:pPr indent="0" marL="0">
              <a:buNone/>
            </a:pPr>
            <a:r>
              <a:rPr lang="en-US" sz="1400" dirty="0">
                <a:solidFill>
                  <a:schemeClr val="tx1"/>
                </a:solidFill>
              </a:rPr>
              <a:t>How much water can reach the fields? The min-cut shows the bottleneck pipes.</a:t>
            </a:r>
            <a:endParaRPr lang="en-US" sz="1400" dirty="0"/>
          </a:p>
        </p:txBody>
      </p:sp>
      <p:sp>
        <p:nvSpPr>
          <p:cNvPr id="12" name="Reason card 2"/>
          <p:cNvSpPr/>
          <p:nvPr/>
        </p:nvSpPr>
        <p:spPr>
          <a:xfrm>
            <a:off x="3474720" y="2258568"/>
            <a:ext cx="5120640" cy="914400"/>
          </a:xfrm>
          <a:prstGeom prst="roundRect">
            <a:avLst>
              <a:gd name="adj" fmla="val 10000"/>
            </a:avLst>
          </a:prstGeom>
          <a:solidFill>
            <a:schemeClr val="bg2"/>
          </a:solidFill>
          <a:ln w="12700">
            <a:solidFill>
              <a:schemeClr val="bg2"/>
            </a:solidFill>
            <a:prstDash val="solid"/>
          </a:ln>
        </p:spPr>
      </p:sp>
      <p:sp>
        <p:nvSpPr>
          <p:cNvPr id="13" name="Reason 2 circle"/>
          <p:cNvSpPr/>
          <p:nvPr/>
        </p:nvSpPr>
        <p:spPr>
          <a:xfrm>
            <a:off x="3657600" y="2459736"/>
            <a:ext cx="512064" cy="512064"/>
          </a:xfrm>
          <a:prstGeom prst="ellipse">
            <a:avLst/>
          </a:prstGeom>
          <a:solidFill>
            <a:schemeClr val="accent1"/>
          </a:solidFill>
          <a:ln w="12700">
            <a:solidFill>
              <a:schemeClr val="accent1"/>
            </a:solidFill>
            <a:prstDash val="solid"/>
          </a:ln>
        </p:spPr>
      </p:sp>
      <p:pic>
        <p:nvPicPr>
          <p:cNvPr id="14" name="Reason 2 icon" descr="Reason 2">    </p:cNvPr>
          <p:cNvPicPr>
            <a:picLocks noChangeAspect="1"/>
          </p:cNvPicPr>
          <p:nvPr/>
        </p:nvPicPr>
        <p:blipFill>
          <a:blip r:embed="rId2"/>
          <a:stretch>
            <a:fillRect/>
          </a:stretch>
        </p:blipFill>
        <p:spPr>
          <a:xfrm>
            <a:off x="3770254" y="2572390"/>
            <a:ext cx="286756" cy="286756"/>
          </a:xfrm>
          <a:prstGeom prst="rect">
            <a:avLst/>
          </a:prstGeom>
        </p:spPr>
      </p:pic>
      <p:sp>
        <p:nvSpPr>
          <p:cNvPr id="15" name="Reason heading 2"/>
          <p:cNvSpPr txBox="1"/>
          <p:nvPr/>
        </p:nvSpPr>
        <p:spPr>
          <a:xfrm>
            <a:off x="4343400" y="2313432"/>
            <a:ext cx="4114800" cy="274320"/>
          </a:xfrm>
          <a:prstGeom prst="rect">
            <a:avLst/>
          </a:prstGeom>
          <a:noFill/>
          <a:ln/>
        </p:spPr>
        <p:txBody>
          <a:bodyPr wrap="square" lIns="0" tIns="0" rIns="0" bIns="0" rtlCol="0" anchor="ctr"/>
          <a:lstStyle/>
          <a:p>
            <a:pPr indent="0" marL="0">
              <a:buNone/>
            </a:pPr>
            <a:r>
              <a:rPr lang="en-US" sz="1600" b="1" dirty="0">
                <a:solidFill>
                  <a:schemeClr val="tx2"/>
                </a:solidFill>
              </a:rPr>
              <a:t>Cheapest shipping</a:t>
            </a:r>
            <a:endParaRPr lang="en-US" sz="1600" dirty="0"/>
          </a:p>
        </p:txBody>
      </p:sp>
      <p:sp>
        <p:nvSpPr>
          <p:cNvPr id="16" name="Reason text 2"/>
          <p:cNvSpPr txBox="1"/>
          <p:nvPr/>
        </p:nvSpPr>
        <p:spPr>
          <a:xfrm>
            <a:off x="4343400" y="2606040"/>
            <a:ext cx="4114800" cy="521208"/>
          </a:xfrm>
          <a:prstGeom prst="rect">
            <a:avLst/>
          </a:prstGeom>
          <a:noFill/>
          <a:ln/>
        </p:spPr>
        <p:txBody>
          <a:bodyPr wrap="square" lIns="0" tIns="0" rIns="0" bIns="0" rtlCol="0" anchor="t"/>
          <a:lstStyle/>
          <a:p>
            <a:pPr indent="0" marL="0">
              <a:buNone/>
            </a:pPr>
            <a:r>
              <a:rPr lang="en-US" sz="1400" dirty="0">
                <a:solidFill>
                  <a:schemeClr val="tx1"/>
                </a:solidFill>
              </a:rPr>
              <a:t>Min-cost flow fills every market at the lowest total cost.</a:t>
            </a:r>
            <a:endParaRPr lang="en-US" sz="1400" dirty="0"/>
          </a:p>
        </p:txBody>
      </p:sp>
      <p:sp>
        <p:nvSpPr>
          <p:cNvPr id="17" name="Reason card 3"/>
          <p:cNvSpPr/>
          <p:nvPr/>
        </p:nvSpPr>
        <p:spPr>
          <a:xfrm>
            <a:off x="3474720" y="3282696"/>
            <a:ext cx="5120640" cy="914400"/>
          </a:xfrm>
          <a:prstGeom prst="roundRect">
            <a:avLst>
              <a:gd name="adj" fmla="val 10000"/>
            </a:avLst>
          </a:prstGeom>
          <a:solidFill>
            <a:schemeClr val="bg2"/>
          </a:solidFill>
          <a:ln w="12700">
            <a:solidFill>
              <a:schemeClr val="bg2"/>
            </a:solidFill>
            <a:prstDash val="solid"/>
          </a:ln>
        </p:spPr>
      </p:sp>
      <p:sp>
        <p:nvSpPr>
          <p:cNvPr id="18" name="Reason 3 circle"/>
          <p:cNvSpPr/>
          <p:nvPr/>
        </p:nvSpPr>
        <p:spPr>
          <a:xfrm>
            <a:off x="3657600" y="3483864"/>
            <a:ext cx="512064" cy="512064"/>
          </a:xfrm>
          <a:prstGeom prst="ellipse">
            <a:avLst/>
          </a:prstGeom>
          <a:solidFill>
            <a:schemeClr val="accent1"/>
          </a:solidFill>
          <a:ln w="12700">
            <a:solidFill>
              <a:schemeClr val="accent1"/>
            </a:solidFill>
            <a:prstDash val="solid"/>
          </a:ln>
        </p:spPr>
      </p:sp>
      <p:pic>
        <p:nvPicPr>
          <p:cNvPr id="19" name="Reason 3 icon" descr="Reason 3">    </p:cNvPr>
          <p:cNvPicPr>
            <a:picLocks noChangeAspect="1"/>
          </p:cNvPicPr>
          <p:nvPr/>
        </p:nvPicPr>
        <p:blipFill>
          <a:blip r:embed="rId3"/>
          <a:stretch>
            <a:fillRect/>
          </a:stretch>
        </p:blipFill>
        <p:spPr>
          <a:xfrm>
            <a:off x="3770254" y="3596518"/>
            <a:ext cx="286756" cy="286756"/>
          </a:xfrm>
          <a:prstGeom prst="rect">
            <a:avLst/>
          </a:prstGeom>
        </p:spPr>
      </p:pic>
      <p:sp>
        <p:nvSpPr>
          <p:cNvPr id="20" name="Reason heading 3"/>
          <p:cNvSpPr txBox="1"/>
          <p:nvPr/>
        </p:nvSpPr>
        <p:spPr>
          <a:xfrm>
            <a:off x="4343400" y="3337560"/>
            <a:ext cx="4114800" cy="274320"/>
          </a:xfrm>
          <a:prstGeom prst="rect">
            <a:avLst/>
          </a:prstGeom>
          <a:noFill/>
          <a:ln/>
        </p:spPr>
        <p:txBody>
          <a:bodyPr wrap="square" lIns="0" tIns="0" rIns="0" bIns="0" rtlCol="0" anchor="ctr"/>
          <a:lstStyle/>
          <a:p>
            <a:pPr indent="0" marL="0">
              <a:buNone/>
            </a:pPr>
            <a:r>
              <a:rPr lang="en-US" sz="1600" b="1" dirty="0">
                <a:solidFill>
                  <a:schemeClr val="tx2"/>
                </a:solidFill>
              </a:rPr>
              <a:t>Match and select</a:t>
            </a:r>
            <a:endParaRPr lang="en-US" sz="1600" dirty="0"/>
          </a:p>
        </p:txBody>
      </p:sp>
      <p:sp>
        <p:nvSpPr>
          <p:cNvPr id="21" name="Reason text 3"/>
          <p:cNvSpPr txBox="1"/>
          <p:nvPr/>
        </p:nvSpPr>
        <p:spPr>
          <a:xfrm>
            <a:off x="4343400" y="3630168"/>
            <a:ext cx="4114800" cy="521208"/>
          </a:xfrm>
          <a:prstGeom prst="rect">
            <a:avLst/>
          </a:prstGeom>
          <a:noFill/>
          <a:ln/>
        </p:spPr>
        <p:txBody>
          <a:bodyPr wrap="square" lIns="0" tIns="0" rIns="0" bIns="0" rtlCol="0" anchor="t"/>
          <a:lstStyle/>
          <a:p>
            <a:pPr indent="0" marL="0">
              <a:buNone/>
            </a:pPr>
            <a:r>
              <a:rPr lang="en-US" sz="1400" dirty="0">
                <a:solidFill>
                  <a:schemeClr val="tx1"/>
                </a:solidFill>
              </a:rPr>
              <a:t>Bipartite matching pairs workers with jobs. Project selection is a min-cut.</a:t>
            </a:r>
            <a:endParaRPr lang="en-US" sz="1400" dirty="0"/>
          </a:p>
        </p:txBody>
      </p:sp>
      <p:sp>
        <p:nvSpPr>
          <p:cNvPr id="22" name="Endpoints line"/>
          <p:cNvSpPr txBox="1"/>
          <p:nvPr/>
        </p:nvSpPr>
        <p:spPr>
          <a:xfrm>
            <a:off x="548640" y="4297680"/>
            <a:ext cx="8046720" cy="411480"/>
          </a:xfrm>
          <a:prstGeom prst="rect">
            <a:avLst/>
          </a:prstGeom>
          <a:noFill/>
          <a:ln/>
        </p:spPr>
        <p:txBody>
          <a:bodyPr wrap="square" lIns="0" tIns="0" rIns="0" bIns="0" rtlCol="0" anchor="ctr"/>
          <a:lstStyle/>
          <a:p>
            <a:pPr indent="0" marL="0">
              <a:buNone/>
            </a:pPr>
            <a:r>
              <a:rPr lang="en-US" sz="1400" b="1" dirty="0">
                <a:solidFill>
                  <a:schemeClr val="accent1"/>
                </a:solidFill>
              </a:rPr>
              <a:t>In AgriFlow:  </a:t>
            </a:r>
            <a:pPr indent="0" marL="0">
              <a:buNone/>
            </a:pPr>
            <a:r>
              <a:rPr lang="en-US" sz="1400" dirty="0">
                <a:solidFill>
                  <a:schemeClr val="tx1"/>
                </a:solidFill>
              </a:rPr>
              <a:t>/api/flow    /matching    /mcmf    /projects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200" b="1" dirty="0">
                <a:solidFill>
                  <a:schemeClr val="tx2"/>
                </a:solidFill>
              </a:rPr>
              <a:t>Why Module 5 is used</a:t>
            </a:r>
            <a:endParaRPr lang="en-US" sz="3200" dirty="0"/>
          </a:p>
        </p:txBody>
      </p:sp>
      <p:sp>
        <p:nvSpPr>
          <p:cNvPr id="3" name="Module panel"/>
          <p:cNvSpPr/>
          <p:nvPr/>
        </p:nvSpPr>
        <p:spPr>
          <a:xfrm>
            <a:off x="548640" y="1234440"/>
            <a:ext cx="2743200" cy="2962656"/>
          </a:xfrm>
          <a:prstGeom prst="roundRect">
            <a:avLst>
              <a:gd name="adj" fmla="val 4000"/>
            </a:avLst>
          </a:prstGeom>
          <a:solidFill>
            <a:schemeClr val="tx2"/>
          </a:solidFill>
          <a:ln w="12700">
            <a:solidFill>
              <a:schemeClr val="tx2"/>
            </a:solidFill>
            <a:prstDash val="solid"/>
          </a:ln>
        </p:spPr>
      </p:sp>
      <p:sp>
        <p:nvSpPr>
          <p:cNvPr id="4" name="Module number"/>
          <p:cNvSpPr txBox="1"/>
          <p:nvPr/>
        </p:nvSpPr>
        <p:spPr>
          <a:xfrm>
            <a:off x="777240" y="1325880"/>
            <a:ext cx="2286000" cy="822960"/>
          </a:xfrm>
          <a:prstGeom prst="rect">
            <a:avLst/>
          </a:prstGeom>
          <a:noFill/>
          <a:ln/>
        </p:spPr>
        <p:txBody>
          <a:bodyPr wrap="square" lIns="0" tIns="0" rIns="0" bIns="0" rtlCol="0" anchor="ctr"/>
          <a:lstStyle/>
          <a:p>
            <a:pPr indent="0" marL="0">
              <a:buNone/>
            </a:pPr>
            <a:r>
              <a:rPr lang="en-US" sz="4800" b="1" dirty="0">
                <a:solidFill>
                  <a:schemeClr val="accent2"/>
                </a:solidFill>
              </a:rPr>
              <a:t>M5</a:t>
            </a:r>
            <a:endParaRPr lang="en-US" sz="4800" dirty="0"/>
          </a:p>
        </p:txBody>
      </p:sp>
      <p:sp>
        <p:nvSpPr>
          <p:cNvPr id="5" name="Module name"/>
          <p:cNvSpPr txBox="1"/>
          <p:nvPr/>
        </p:nvSpPr>
        <p:spPr>
          <a:xfrm>
            <a:off x="777240" y="2148840"/>
            <a:ext cx="2286000" cy="685800"/>
          </a:xfrm>
          <a:prstGeom prst="rect">
            <a:avLst/>
          </a:prstGeom>
          <a:noFill/>
          <a:ln/>
        </p:spPr>
        <p:txBody>
          <a:bodyPr wrap="square" lIns="0" tIns="0" rIns="0" bIns="0" rtlCol="0" anchor="t"/>
          <a:lstStyle/>
          <a:p>
            <a:pPr indent="0" marL="0">
              <a:buNone/>
            </a:pPr>
            <a:r>
              <a:rPr lang="en-US" sz="1800" b="1" dirty="0">
                <a:solidFill>
                  <a:schemeClr val="bg1"/>
                </a:solidFill>
              </a:rPr>
              <a:t>NP-completeness and approximation</a:t>
            </a:r>
            <a:endParaRPr lang="en-US" sz="1800" dirty="0"/>
          </a:p>
        </p:txBody>
      </p:sp>
      <p:sp>
        <p:nvSpPr>
          <p:cNvPr id="6" name="Module topics"/>
          <p:cNvSpPr txBox="1"/>
          <p:nvPr/>
        </p:nvSpPr>
        <p:spPr>
          <a:xfrm>
            <a:off x="777240" y="2880360"/>
            <a:ext cx="2286000" cy="1188720"/>
          </a:xfrm>
          <a:prstGeom prst="rect">
            <a:avLst/>
          </a:prstGeom>
          <a:noFill/>
          <a:ln/>
        </p:spPr>
        <p:txBody>
          <a:bodyPr wrap="square" lIns="0" tIns="0" rIns="0" bIns="0" rtlCol="0" anchor="t"/>
          <a:lstStyle/>
          <a:p>
            <a:pPr indent="0" marL="0">
              <a:buNone/>
            </a:pPr>
            <a:r>
              <a:rPr lang="en-US" sz="1200" dirty="0">
                <a:solidFill>
                  <a:schemeClr val="bg2"/>
                </a:solidFill>
              </a:rPr>
              <a:t>NP-completeness, vertex cover, knapsack, subset sum, TSP approximation, FPT</a:t>
            </a:r>
            <a:endParaRPr lang="en-US" sz="1200" dirty="0"/>
          </a:p>
        </p:txBody>
      </p:sp>
      <p:sp>
        <p:nvSpPr>
          <p:cNvPr id="7" name="Reason card 1"/>
          <p:cNvSpPr/>
          <p:nvPr/>
        </p:nvSpPr>
        <p:spPr>
          <a:xfrm>
            <a:off x="3474720" y="1234440"/>
            <a:ext cx="5120640" cy="914400"/>
          </a:xfrm>
          <a:prstGeom prst="roundRect">
            <a:avLst>
              <a:gd name="adj" fmla="val 10000"/>
            </a:avLst>
          </a:prstGeom>
          <a:solidFill>
            <a:schemeClr val="bg2"/>
          </a:solidFill>
          <a:ln w="12700">
            <a:solidFill>
              <a:schemeClr val="bg2"/>
            </a:solidFill>
            <a:prstDash val="solid"/>
          </a:ln>
        </p:spPr>
      </p:sp>
      <p:sp>
        <p:nvSpPr>
          <p:cNvPr id="8" name="Reason 1 circle"/>
          <p:cNvSpPr/>
          <p:nvPr/>
        </p:nvSpPr>
        <p:spPr>
          <a:xfrm>
            <a:off x="3657600" y="1435608"/>
            <a:ext cx="512064" cy="512064"/>
          </a:xfrm>
          <a:prstGeom prst="ellipse">
            <a:avLst/>
          </a:prstGeom>
          <a:solidFill>
            <a:schemeClr val="accent1"/>
          </a:solidFill>
          <a:ln w="12700">
            <a:solidFill>
              <a:schemeClr val="accent1"/>
            </a:solidFill>
            <a:prstDash val="solid"/>
          </a:ln>
        </p:spPr>
      </p:sp>
      <p:pic>
        <p:nvPicPr>
          <p:cNvPr id="9" name="Reason 1 icon" descr="Reason 1">    </p:cNvPr>
          <p:cNvPicPr>
            <a:picLocks noChangeAspect="1"/>
          </p:cNvPicPr>
          <p:nvPr/>
        </p:nvPicPr>
        <p:blipFill>
          <a:blip r:embed="rId1"/>
          <a:stretch>
            <a:fillRect/>
          </a:stretch>
        </p:blipFill>
        <p:spPr>
          <a:xfrm>
            <a:off x="3770254" y="1548262"/>
            <a:ext cx="286756" cy="286756"/>
          </a:xfrm>
          <a:prstGeom prst="rect">
            <a:avLst/>
          </a:prstGeom>
        </p:spPr>
      </p:pic>
      <p:sp>
        <p:nvSpPr>
          <p:cNvPr id="10" name="Reason heading 1"/>
          <p:cNvSpPr txBox="1"/>
          <p:nvPr/>
        </p:nvSpPr>
        <p:spPr>
          <a:xfrm>
            <a:off x="4343400" y="1289304"/>
            <a:ext cx="4114800" cy="274320"/>
          </a:xfrm>
          <a:prstGeom prst="rect">
            <a:avLst/>
          </a:prstGeom>
          <a:noFill/>
          <a:ln/>
        </p:spPr>
        <p:txBody>
          <a:bodyPr wrap="square" lIns="0" tIns="0" rIns="0" bIns="0" rtlCol="0" anchor="ctr"/>
          <a:lstStyle/>
          <a:p>
            <a:pPr indent="0" marL="0">
              <a:buNone/>
            </a:pPr>
            <a:r>
              <a:rPr lang="en-US" sz="1600" b="1" dirty="0">
                <a:solidFill>
                  <a:schemeClr val="tx2"/>
                </a:solidFill>
              </a:rPr>
              <a:t>Know the limits</a:t>
            </a:r>
            <a:endParaRPr lang="en-US" sz="1600" dirty="0"/>
          </a:p>
        </p:txBody>
      </p:sp>
      <p:sp>
        <p:nvSpPr>
          <p:cNvPr id="11" name="Reason text 1"/>
          <p:cNvSpPr txBox="1"/>
          <p:nvPr/>
        </p:nvSpPr>
        <p:spPr>
          <a:xfrm>
            <a:off x="4343400" y="1581912"/>
            <a:ext cx="4114800" cy="521208"/>
          </a:xfrm>
          <a:prstGeom prst="rect">
            <a:avLst/>
          </a:prstGeom>
          <a:noFill/>
          <a:ln/>
        </p:spPr>
        <p:txBody>
          <a:bodyPr wrap="square" lIns="0" tIns="0" rIns="0" bIns="0" rtlCol="0" anchor="t"/>
          <a:lstStyle/>
          <a:p>
            <a:pPr indent="0" marL="0">
              <a:buNone/>
            </a:pPr>
            <a:r>
              <a:rPr lang="en-US" sz="1400" dirty="0">
                <a:solidFill>
                  <a:schemeClr val="tx1"/>
                </a:solidFill>
              </a:rPr>
              <a:t>Some problems blow up as inputs grow. The exact solvers show where it starts to hurt.</a:t>
            </a:r>
            <a:endParaRPr lang="en-US" sz="1400" dirty="0"/>
          </a:p>
        </p:txBody>
      </p:sp>
      <p:sp>
        <p:nvSpPr>
          <p:cNvPr id="12" name="Reason card 2"/>
          <p:cNvSpPr/>
          <p:nvPr/>
        </p:nvSpPr>
        <p:spPr>
          <a:xfrm>
            <a:off x="3474720" y="2258568"/>
            <a:ext cx="5120640" cy="914400"/>
          </a:xfrm>
          <a:prstGeom prst="roundRect">
            <a:avLst>
              <a:gd name="adj" fmla="val 10000"/>
            </a:avLst>
          </a:prstGeom>
          <a:solidFill>
            <a:schemeClr val="bg2"/>
          </a:solidFill>
          <a:ln w="12700">
            <a:solidFill>
              <a:schemeClr val="bg2"/>
            </a:solidFill>
            <a:prstDash val="solid"/>
          </a:ln>
        </p:spPr>
      </p:sp>
      <p:sp>
        <p:nvSpPr>
          <p:cNvPr id="13" name="Reason 2 circle"/>
          <p:cNvSpPr/>
          <p:nvPr/>
        </p:nvSpPr>
        <p:spPr>
          <a:xfrm>
            <a:off x="3657600" y="2459736"/>
            <a:ext cx="512064" cy="512064"/>
          </a:xfrm>
          <a:prstGeom prst="ellipse">
            <a:avLst/>
          </a:prstGeom>
          <a:solidFill>
            <a:schemeClr val="accent1"/>
          </a:solidFill>
          <a:ln w="12700">
            <a:solidFill>
              <a:schemeClr val="accent1"/>
            </a:solidFill>
            <a:prstDash val="solid"/>
          </a:ln>
        </p:spPr>
      </p:sp>
      <p:pic>
        <p:nvPicPr>
          <p:cNvPr id="14" name="Reason 2 icon" descr="Reason 2">    </p:cNvPr>
          <p:cNvPicPr>
            <a:picLocks noChangeAspect="1"/>
          </p:cNvPicPr>
          <p:nvPr/>
        </p:nvPicPr>
        <p:blipFill>
          <a:blip r:embed="rId2"/>
          <a:stretch>
            <a:fillRect/>
          </a:stretch>
        </p:blipFill>
        <p:spPr>
          <a:xfrm>
            <a:off x="3770254" y="2572390"/>
            <a:ext cx="286756" cy="286756"/>
          </a:xfrm>
          <a:prstGeom prst="rect">
            <a:avLst/>
          </a:prstGeom>
        </p:spPr>
      </p:pic>
      <p:sp>
        <p:nvSpPr>
          <p:cNvPr id="15" name="Reason heading 2"/>
          <p:cNvSpPr txBox="1"/>
          <p:nvPr/>
        </p:nvSpPr>
        <p:spPr>
          <a:xfrm>
            <a:off x="4343400" y="2313432"/>
            <a:ext cx="4114800" cy="274320"/>
          </a:xfrm>
          <a:prstGeom prst="rect">
            <a:avLst/>
          </a:prstGeom>
          <a:noFill/>
          <a:ln/>
        </p:spPr>
        <p:txBody>
          <a:bodyPr wrap="square" lIns="0" tIns="0" rIns="0" bIns="0" rtlCol="0" anchor="ctr"/>
          <a:lstStyle/>
          <a:p>
            <a:pPr indent="0" marL="0">
              <a:buNone/>
            </a:pPr>
            <a:r>
              <a:rPr lang="en-US" sz="1600" b="1" dirty="0">
                <a:solidFill>
                  <a:schemeClr val="tx2"/>
                </a:solidFill>
              </a:rPr>
              <a:t>Good enough, with proof</a:t>
            </a:r>
            <a:endParaRPr lang="en-US" sz="1600" dirty="0"/>
          </a:p>
        </p:txBody>
      </p:sp>
      <p:sp>
        <p:nvSpPr>
          <p:cNvPr id="16" name="Reason text 2"/>
          <p:cNvSpPr txBox="1"/>
          <p:nvPr/>
        </p:nvSpPr>
        <p:spPr>
          <a:xfrm>
            <a:off x="4343400" y="2606040"/>
            <a:ext cx="4114800" cy="521208"/>
          </a:xfrm>
          <a:prstGeom prst="rect">
            <a:avLst/>
          </a:prstGeom>
          <a:noFill/>
          <a:ln/>
        </p:spPr>
        <p:txBody>
          <a:bodyPr wrap="square" lIns="0" tIns="0" rIns="0" bIns="0" rtlCol="0" anchor="t"/>
          <a:lstStyle/>
          <a:p>
            <a:pPr indent="0" marL="0">
              <a:buNone/>
            </a:pPr>
            <a:r>
              <a:rPr lang="en-US" sz="1400" dirty="0">
                <a:solidFill>
                  <a:schemeClr val="tx1"/>
                </a:solidFill>
              </a:rPr>
              <a:t>2-approximations for vertex cover and TSP, plus a knapsack FPTAS, with provable error.</a:t>
            </a:r>
            <a:endParaRPr lang="en-US" sz="1400" dirty="0"/>
          </a:p>
        </p:txBody>
      </p:sp>
      <p:sp>
        <p:nvSpPr>
          <p:cNvPr id="17" name="Reason card 3"/>
          <p:cNvSpPr/>
          <p:nvPr/>
        </p:nvSpPr>
        <p:spPr>
          <a:xfrm>
            <a:off x="3474720" y="3282696"/>
            <a:ext cx="5120640" cy="914400"/>
          </a:xfrm>
          <a:prstGeom prst="roundRect">
            <a:avLst>
              <a:gd name="adj" fmla="val 10000"/>
            </a:avLst>
          </a:prstGeom>
          <a:solidFill>
            <a:schemeClr val="bg2"/>
          </a:solidFill>
          <a:ln w="12700">
            <a:solidFill>
              <a:schemeClr val="bg2"/>
            </a:solidFill>
            <a:prstDash val="solid"/>
          </a:ln>
        </p:spPr>
      </p:sp>
      <p:sp>
        <p:nvSpPr>
          <p:cNvPr id="18" name="Reason 3 circle"/>
          <p:cNvSpPr/>
          <p:nvPr/>
        </p:nvSpPr>
        <p:spPr>
          <a:xfrm>
            <a:off x="3657600" y="3483864"/>
            <a:ext cx="512064" cy="512064"/>
          </a:xfrm>
          <a:prstGeom prst="ellipse">
            <a:avLst/>
          </a:prstGeom>
          <a:solidFill>
            <a:schemeClr val="accent1"/>
          </a:solidFill>
          <a:ln w="12700">
            <a:solidFill>
              <a:schemeClr val="accent1"/>
            </a:solidFill>
            <a:prstDash val="solid"/>
          </a:ln>
        </p:spPr>
      </p:sp>
      <p:pic>
        <p:nvPicPr>
          <p:cNvPr id="19" name="Reason 3 icon" descr="Reason 3">    </p:cNvPr>
          <p:cNvPicPr>
            <a:picLocks noChangeAspect="1"/>
          </p:cNvPicPr>
          <p:nvPr/>
        </p:nvPicPr>
        <p:blipFill>
          <a:blip r:embed="rId3"/>
          <a:stretch>
            <a:fillRect/>
          </a:stretch>
        </p:blipFill>
        <p:spPr>
          <a:xfrm>
            <a:off x="3770254" y="3596518"/>
            <a:ext cx="286756" cy="286756"/>
          </a:xfrm>
          <a:prstGeom prst="rect">
            <a:avLst/>
          </a:prstGeom>
        </p:spPr>
      </p:pic>
      <p:sp>
        <p:nvSpPr>
          <p:cNvPr id="20" name="Reason heading 3"/>
          <p:cNvSpPr txBox="1"/>
          <p:nvPr/>
        </p:nvSpPr>
        <p:spPr>
          <a:xfrm>
            <a:off x="4343400" y="3337560"/>
            <a:ext cx="4114800" cy="274320"/>
          </a:xfrm>
          <a:prstGeom prst="rect">
            <a:avLst/>
          </a:prstGeom>
          <a:noFill/>
          <a:ln/>
        </p:spPr>
        <p:txBody>
          <a:bodyPr wrap="square" lIns="0" tIns="0" rIns="0" bIns="0" rtlCol="0" anchor="ctr"/>
          <a:lstStyle/>
          <a:p>
            <a:pPr indent="0" marL="0">
              <a:buNone/>
            </a:pPr>
            <a:r>
              <a:rPr lang="en-US" sz="1600" b="1" dirty="0">
                <a:solidFill>
                  <a:schemeClr val="tx2"/>
                </a:solidFill>
              </a:rPr>
              <a:t>Fast when k is small</a:t>
            </a:r>
            <a:endParaRPr lang="en-US" sz="1600" dirty="0"/>
          </a:p>
        </p:txBody>
      </p:sp>
      <p:sp>
        <p:nvSpPr>
          <p:cNvPr id="21" name="Reason text 3"/>
          <p:cNvSpPr txBox="1"/>
          <p:nvPr/>
        </p:nvSpPr>
        <p:spPr>
          <a:xfrm>
            <a:off x="4343400" y="3630168"/>
            <a:ext cx="4114800" cy="521208"/>
          </a:xfrm>
          <a:prstGeom prst="rect">
            <a:avLst/>
          </a:prstGeom>
          <a:noFill/>
          <a:ln/>
        </p:spPr>
        <p:txBody>
          <a:bodyPr wrap="square" lIns="0" tIns="0" rIns="0" bIns="0" rtlCol="0" anchor="t"/>
          <a:lstStyle/>
          <a:p>
            <a:pPr indent="0" marL="0">
              <a:buNone/>
            </a:pPr>
            <a:r>
              <a:rPr lang="en-US" sz="1400" dirty="0">
                <a:solidFill>
                  <a:schemeClr val="tx1"/>
                </a:solidFill>
              </a:rPr>
              <a:t>FPT vertex cover shrinks the graph first (Buss kernel), then searches.</a:t>
            </a:r>
            <a:endParaRPr lang="en-US" sz="1400" dirty="0"/>
          </a:p>
        </p:txBody>
      </p:sp>
      <p:sp>
        <p:nvSpPr>
          <p:cNvPr id="22" name="Endpoints line"/>
          <p:cNvSpPr txBox="1"/>
          <p:nvPr/>
        </p:nvSpPr>
        <p:spPr>
          <a:xfrm>
            <a:off x="548640" y="4297680"/>
            <a:ext cx="8046720" cy="411480"/>
          </a:xfrm>
          <a:prstGeom prst="rect">
            <a:avLst/>
          </a:prstGeom>
          <a:noFill/>
          <a:ln/>
        </p:spPr>
        <p:txBody>
          <a:bodyPr wrap="square" lIns="0" tIns="0" rIns="0" bIns="0" rtlCol="0" anchor="ctr"/>
          <a:lstStyle/>
          <a:p>
            <a:pPr indent="0" marL="0">
              <a:buNone/>
            </a:pPr>
            <a:r>
              <a:rPr lang="en-US" sz="1400" b="1" dirty="0">
                <a:solidFill>
                  <a:schemeClr val="accent1"/>
                </a:solidFill>
              </a:rPr>
              <a:t>In AgriFlow:  </a:t>
            </a:r>
            <a:pPr indent="0" marL="0">
              <a:buNone/>
            </a:pPr>
            <a:r>
              <a:rPr lang="en-US" sz="1400" dirty="0">
                <a:solidFill>
                  <a:schemeClr val="tx1"/>
                </a:solidFill>
              </a:rPr>
              <a:t>/api/vcover    /knapsack    /subsetsum    /route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200" b="1" dirty="0">
                <a:solidFill>
                  <a:schemeClr val="tx2"/>
                </a:solidFill>
              </a:rPr>
              <a:t>Why Module 6 is used</a:t>
            </a:r>
            <a:endParaRPr lang="en-US" sz="3200" dirty="0"/>
          </a:p>
        </p:txBody>
      </p:sp>
      <p:sp>
        <p:nvSpPr>
          <p:cNvPr id="3" name="Module panel"/>
          <p:cNvSpPr/>
          <p:nvPr/>
        </p:nvSpPr>
        <p:spPr>
          <a:xfrm>
            <a:off x="548640" y="1234440"/>
            <a:ext cx="2743200" cy="2962656"/>
          </a:xfrm>
          <a:prstGeom prst="roundRect">
            <a:avLst>
              <a:gd name="adj" fmla="val 4000"/>
            </a:avLst>
          </a:prstGeom>
          <a:solidFill>
            <a:schemeClr val="tx2"/>
          </a:solidFill>
          <a:ln w="12700">
            <a:solidFill>
              <a:schemeClr val="tx2"/>
            </a:solidFill>
            <a:prstDash val="solid"/>
          </a:ln>
        </p:spPr>
      </p:sp>
      <p:sp>
        <p:nvSpPr>
          <p:cNvPr id="4" name="Module number"/>
          <p:cNvSpPr txBox="1"/>
          <p:nvPr/>
        </p:nvSpPr>
        <p:spPr>
          <a:xfrm>
            <a:off x="777240" y="1325880"/>
            <a:ext cx="2286000" cy="822960"/>
          </a:xfrm>
          <a:prstGeom prst="rect">
            <a:avLst/>
          </a:prstGeom>
          <a:noFill/>
          <a:ln/>
        </p:spPr>
        <p:txBody>
          <a:bodyPr wrap="square" lIns="0" tIns="0" rIns="0" bIns="0" rtlCol="0" anchor="ctr"/>
          <a:lstStyle/>
          <a:p>
            <a:pPr indent="0" marL="0">
              <a:buNone/>
            </a:pPr>
            <a:r>
              <a:rPr lang="en-US" sz="4800" b="1" dirty="0">
                <a:solidFill>
                  <a:schemeClr val="accent2"/>
                </a:solidFill>
              </a:rPr>
              <a:t>M6</a:t>
            </a:r>
            <a:endParaRPr lang="en-US" sz="4800" dirty="0"/>
          </a:p>
        </p:txBody>
      </p:sp>
      <p:sp>
        <p:nvSpPr>
          <p:cNvPr id="5" name="Module name"/>
          <p:cNvSpPr txBox="1"/>
          <p:nvPr/>
        </p:nvSpPr>
        <p:spPr>
          <a:xfrm>
            <a:off x="777240" y="2148840"/>
            <a:ext cx="2286000" cy="685800"/>
          </a:xfrm>
          <a:prstGeom prst="rect">
            <a:avLst/>
          </a:prstGeom>
          <a:noFill/>
          <a:ln/>
        </p:spPr>
        <p:txBody>
          <a:bodyPr wrap="square" lIns="0" tIns="0" rIns="0" bIns="0" rtlCol="0" anchor="t"/>
          <a:lstStyle/>
          <a:p>
            <a:pPr indent="0" marL="0">
              <a:buNone/>
            </a:pPr>
            <a:r>
              <a:rPr lang="en-US" sz="1800" b="1" dirty="0">
                <a:solidFill>
                  <a:schemeClr val="bg1"/>
                </a:solidFill>
              </a:rPr>
              <a:t>Randomised and parallel algorithms</a:t>
            </a:r>
            <a:endParaRPr lang="en-US" sz="1800" dirty="0"/>
          </a:p>
        </p:txBody>
      </p:sp>
      <p:sp>
        <p:nvSpPr>
          <p:cNvPr id="6" name="Module topics"/>
          <p:cNvSpPr txBox="1"/>
          <p:nvPr/>
        </p:nvSpPr>
        <p:spPr>
          <a:xfrm>
            <a:off x="777240" y="2880360"/>
            <a:ext cx="2286000" cy="1188720"/>
          </a:xfrm>
          <a:prstGeom prst="rect">
            <a:avLst/>
          </a:prstGeom>
          <a:noFill/>
          <a:ln/>
        </p:spPr>
        <p:txBody>
          <a:bodyPr wrap="square" lIns="0" tIns="0" rIns="0" bIns="0" rtlCol="0" anchor="t"/>
          <a:lstStyle/>
          <a:p>
            <a:pPr indent="0" marL="0">
              <a:buNone/>
            </a:pPr>
            <a:r>
              <a:rPr lang="en-US" sz="1200" dirty="0">
                <a:solidFill>
                  <a:schemeClr val="bg2"/>
                </a:solidFill>
              </a:rPr>
              <a:t>Miller-Rabin, randomised quicksort, universal and perfect hashing, reservoir sampling, parallel algorithms</a:t>
            </a:r>
            <a:endParaRPr lang="en-US" sz="1200" dirty="0"/>
          </a:p>
        </p:txBody>
      </p:sp>
      <p:sp>
        <p:nvSpPr>
          <p:cNvPr id="7" name="Reason card 1"/>
          <p:cNvSpPr/>
          <p:nvPr/>
        </p:nvSpPr>
        <p:spPr>
          <a:xfrm>
            <a:off x="3474720" y="1234440"/>
            <a:ext cx="5120640" cy="914400"/>
          </a:xfrm>
          <a:prstGeom prst="roundRect">
            <a:avLst>
              <a:gd name="adj" fmla="val 10000"/>
            </a:avLst>
          </a:prstGeom>
          <a:solidFill>
            <a:schemeClr val="bg2"/>
          </a:solidFill>
          <a:ln w="12700">
            <a:solidFill>
              <a:schemeClr val="bg2"/>
            </a:solidFill>
            <a:prstDash val="solid"/>
          </a:ln>
        </p:spPr>
      </p:sp>
      <p:sp>
        <p:nvSpPr>
          <p:cNvPr id="8" name="Reason 1 circle"/>
          <p:cNvSpPr/>
          <p:nvPr/>
        </p:nvSpPr>
        <p:spPr>
          <a:xfrm>
            <a:off x="3657600" y="1435608"/>
            <a:ext cx="512064" cy="512064"/>
          </a:xfrm>
          <a:prstGeom prst="ellipse">
            <a:avLst/>
          </a:prstGeom>
          <a:solidFill>
            <a:schemeClr val="accent1"/>
          </a:solidFill>
          <a:ln w="12700">
            <a:solidFill>
              <a:schemeClr val="accent1"/>
            </a:solidFill>
            <a:prstDash val="solid"/>
          </a:ln>
        </p:spPr>
      </p:sp>
      <p:pic>
        <p:nvPicPr>
          <p:cNvPr id="9" name="Reason 1 icon" descr="Reason 1">    </p:cNvPr>
          <p:cNvPicPr>
            <a:picLocks noChangeAspect="1"/>
          </p:cNvPicPr>
          <p:nvPr/>
        </p:nvPicPr>
        <p:blipFill>
          <a:blip r:embed="rId1"/>
          <a:stretch>
            <a:fillRect/>
          </a:stretch>
        </p:blipFill>
        <p:spPr>
          <a:xfrm>
            <a:off x="3770254" y="1548262"/>
            <a:ext cx="286756" cy="286756"/>
          </a:xfrm>
          <a:prstGeom prst="rect">
            <a:avLst/>
          </a:prstGeom>
        </p:spPr>
      </p:pic>
      <p:sp>
        <p:nvSpPr>
          <p:cNvPr id="10" name="Reason heading 1"/>
          <p:cNvSpPr txBox="1"/>
          <p:nvPr/>
        </p:nvSpPr>
        <p:spPr>
          <a:xfrm>
            <a:off x="4343400" y="1289304"/>
            <a:ext cx="4114800" cy="274320"/>
          </a:xfrm>
          <a:prstGeom prst="rect">
            <a:avLst/>
          </a:prstGeom>
          <a:noFill/>
          <a:ln/>
        </p:spPr>
        <p:txBody>
          <a:bodyPr wrap="square" lIns="0" tIns="0" rIns="0" bIns="0" rtlCol="0" anchor="ctr"/>
          <a:lstStyle/>
          <a:p>
            <a:pPr indent="0" marL="0">
              <a:buNone/>
            </a:pPr>
            <a:r>
              <a:rPr lang="en-US" sz="1600" b="1" dirty="0">
                <a:solidFill>
                  <a:schemeClr val="tx2"/>
                </a:solidFill>
              </a:rPr>
              <a:t>Let dice help</a:t>
            </a:r>
            <a:endParaRPr lang="en-US" sz="1600" dirty="0"/>
          </a:p>
        </p:txBody>
      </p:sp>
      <p:sp>
        <p:nvSpPr>
          <p:cNvPr id="11" name="Reason text 1"/>
          <p:cNvSpPr txBox="1"/>
          <p:nvPr/>
        </p:nvSpPr>
        <p:spPr>
          <a:xfrm>
            <a:off x="4343400" y="1581912"/>
            <a:ext cx="4114800" cy="521208"/>
          </a:xfrm>
          <a:prstGeom prst="rect">
            <a:avLst/>
          </a:prstGeom>
          <a:noFill/>
          <a:ln/>
        </p:spPr>
        <p:txBody>
          <a:bodyPr wrap="square" lIns="0" tIns="0" rIns="0" bIns="0" rtlCol="0" anchor="t"/>
          <a:lstStyle/>
          <a:p>
            <a:pPr indent="0" marL="0">
              <a:buNone/>
            </a:pPr>
            <a:r>
              <a:rPr lang="en-US" sz="1400" dirty="0">
                <a:solidFill>
                  <a:schemeClr val="tx1"/>
                </a:solidFill>
              </a:rPr>
              <a:t>Randomised quicksort dodges the worst case. Miller-Rabin tests big primes fast.</a:t>
            </a:r>
            <a:endParaRPr lang="en-US" sz="1400" dirty="0"/>
          </a:p>
        </p:txBody>
      </p:sp>
      <p:sp>
        <p:nvSpPr>
          <p:cNvPr id="12" name="Reason card 2"/>
          <p:cNvSpPr/>
          <p:nvPr/>
        </p:nvSpPr>
        <p:spPr>
          <a:xfrm>
            <a:off x="3474720" y="2258568"/>
            <a:ext cx="5120640" cy="914400"/>
          </a:xfrm>
          <a:prstGeom prst="roundRect">
            <a:avLst>
              <a:gd name="adj" fmla="val 10000"/>
            </a:avLst>
          </a:prstGeom>
          <a:solidFill>
            <a:schemeClr val="bg2"/>
          </a:solidFill>
          <a:ln w="12700">
            <a:solidFill>
              <a:schemeClr val="bg2"/>
            </a:solidFill>
            <a:prstDash val="solid"/>
          </a:ln>
        </p:spPr>
      </p:sp>
      <p:sp>
        <p:nvSpPr>
          <p:cNvPr id="13" name="Reason 2 circle"/>
          <p:cNvSpPr/>
          <p:nvPr/>
        </p:nvSpPr>
        <p:spPr>
          <a:xfrm>
            <a:off x="3657600" y="2459736"/>
            <a:ext cx="512064" cy="512064"/>
          </a:xfrm>
          <a:prstGeom prst="ellipse">
            <a:avLst/>
          </a:prstGeom>
          <a:solidFill>
            <a:schemeClr val="accent1"/>
          </a:solidFill>
          <a:ln w="12700">
            <a:solidFill>
              <a:schemeClr val="accent1"/>
            </a:solidFill>
            <a:prstDash val="solid"/>
          </a:ln>
        </p:spPr>
      </p:sp>
      <p:pic>
        <p:nvPicPr>
          <p:cNvPr id="14" name="Reason 2 icon" descr="Reason 2">    </p:cNvPr>
          <p:cNvPicPr>
            <a:picLocks noChangeAspect="1"/>
          </p:cNvPicPr>
          <p:nvPr/>
        </p:nvPicPr>
        <p:blipFill>
          <a:blip r:embed="rId2"/>
          <a:stretch>
            <a:fillRect/>
          </a:stretch>
        </p:blipFill>
        <p:spPr>
          <a:xfrm>
            <a:off x="3770254" y="2572390"/>
            <a:ext cx="286756" cy="286756"/>
          </a:xfrm>
          <a:prstGeom prst="rect">
            <a:avLst/>
          </a:prstGeom>
        </p:spPr>
      </p:pic>
      <p:sp>
        <p:nvSpPr>
          <p:cNvPr id="15" name="Reason heading 2"/>
          <p:cNvSpPr txBox="1"/>
          <p:nvPr/>
        </p:nvSpPr>
        <p:spPr>
          <a:xfrm>
            <a:off x="4343400" y="2313432"/>
            <a:ext cx="4114800" cy="274320"/>
          </a:xfrm>
          <a:prstGeom prst="rect">
            <a:avLst/>
          </a:prstGeom>
          <a:noFill/>
          <a:ln/>
        </p:spPr>
        <p:txBody>
          <a:bodyPr wrap="square" lIns="0" tIns="0" rIns="0" bIns="0" rtlCol="0" anchor="ctr"/>
          <a:lstStyle/>
          <a:p>
            <a:pPr indent="0" marL="0">
              <a:buNone/>
            </a:pPr>
            <a:r>
              <a:rPr lang="en-US" sz="1600" b="1" dirty="0">
                <a:solidFill>
                  <a:schemeClr val="tx2"/>
                </a:solidFill>
              </a:rPr>
              <a:t>Hash and sample</a:t>
            </a:r>
            <a:endParaRPr lang="en-US" sz="1600" dirty="0"/>
          </a:p>
        </p:txBody>
      </p:sp>
      <p:sp>
        <p:nvSpPr>
          <p:cNvPr id="16" name="Reason text 2"/>
          <p:cNvSpPr txBox="1"/>
          <p:nvPr/>
        </p:nvSpPr>
        <p:spPr>
          <a:xfrm>
            <a:off x="4343400" y="2606040"/>
            <a:ext cx="4114800" cy="521208"/>
          </a:xfrm>
          <a:prstGeom prst="rect">
            <a:avLst/>
          </a:prstGeom>
          <a:noFill/>
          <a:ln/>
        </p:spPr>
        <p:txBody>
          <a:bodyPr wrap="square" lIns="0" tIns="0" rIns="0" bIns="0" rtlCol="0" anchor="t"/>
          <a:lstStyle/>
          <a:p>
            <a:pPr indent="0" marL="0">
              <a:buNone/>
            </a:pPr>
            <a:r>
              <a:rPr lang="en-US" sz="1400" dirty="0">
                <a:solidFill>
                  <a:schemeClr val="tx1"/>
                </a:solidFill>
              </a:rPr>
              <a:t>Perfect hashing has zero collisions. Reservoir sampling picks fairly from a stream.</a:t>
            </a:r>
            <a:endParaRPr lang="en-US" sz="1400" dirty="0"/>
          </a:p>
        </p:txBody>
      </p:sp>
      <p:sp>
        <p:nvSpPr>
          <p:cNvPr id="17" name="Reason card 3"/>
          <p:cNvSpPr/>
          <p:nvPr/>
        </p:nvSpPr>
        <p:spPr>
          <a:xfrm>
            <a:off x="3474720" y="3282696"/>
            <a:ext cx="5120640" cy="914400"/>
          </a:xfrm>
          <a:prstGeom prst="roundRect">
            <a:avLst>
              <a:gd name="adj" fmla="val 10000"/>
            </a:avLst>
          </a:prstGeom>
          <a:solidFill>
            <a:schemeClr val="bg2"/>
          </a:solidFill>
          <a:ln w="12700">
            <a:solidFill>
              <a:schemeClr val="bg2"/>
            </a:solidFill>
            <a:prstDash val="solid"/>
          </a:ln>
        </p:spPr>
      </p:sp>
      <p:sp>
        <p:nvSpPr>
          <p:cNvPr id="18" name="Reason 3 circle"/>
          <p:cNvSpPr/>
          <p:nvPr/>
        </p:nvSpPr>
        <p:spPr>
          <a:xfrm>
            <a:off x="3657600" y="3483864"/>
            <a:ext cx="512064" cy="512064"/>
          </a:xfrm>
          <a:prstGeom prst="ellipse">
            <a:avLst/>
          </a:prstGeom>
          <a:solidFill>
            <a:schemeClr val="accent1"/>
          </a:solidFill>
          <a:ln w="12700">
            <a:solidFill>
              <a:schemeClr val="accent1"/>
            </a:solidFill>
            <a:prstDash val="solid"/>
          </a:ln>
        </p:spPr>
      </p:sp>
      <p:pic>
        <p:nvPicPr>
          <p:cNvPr id="19" name="Reason 3 icon" descr="Reason 3">    </p:cNvPr>
          <p:cNvPicPr>
            <a:picLocks noChangeAspect="1"/>
          </p:cNvPicPr>
          <p:nvPr/>
        </p:nvPicPr>
        <p:blipFill>
          <a:blip r:embed="rId3"/>
          <a:stretch>
            <a:fillRect/>
          </a:stretch>
        </p:blipFill>
        <p:spPr>
          <a:xfrm>
            <a:off x="3770254" y="3596518"/>
            <a:ext cx="286756" cy="286756"/>
          </a:xfrm>
          <a:prstGeom prst="rect">
            <a:avLst/>
          </a:prstGeom>
        </p:spPr>
      </p:pic>
      <p:sp>
        <p:nvSpPr>
          <p:cNvPr id="20" name="Reason heading 3"/>
          <p:cNvSpPr txBox="1"/>
          <p:nvPr/>
        </p:nvSpPr>
        <p:spPr>
          <a:xfrm>
            <a:off x="4343400" y="3337560"/>
            <a:ext cx="4114800" cy="274320"/>
          </a:xfrm>
          <a:prstGeom prst="rect">
            <a:avLst/>
          </a:prstGeom>
          <a:noFill/>
          <a:ln/>
        </p:spPr>
        <p:txBody>
          <a:bodyPr wrap="square" lIns="0" tIns="0" rIns="0" bIns="0" rtlCol="0" anchor="ctr"/>
          <a:lstStyle/>
          <a:p>
            <a:pPr indent="0" marL="0">
              <a:buNone/>
            </a:pPr>
            <a:r>
              <a:rPr lang="en-US" sz="1600" b="1" dirty="0">
                <a:solidFill>
                  <a:schemeClr val="tx2"/>
                </a:solidFill>
              </a:rPr>
              <a:t>Use every core</a:t>
            </a:r>
            <a:endParaRPr lang="en-US" sz="1600" dirty="0"/>
          </a:p>
        </p:txBody>
      </p:sp>
      <p:sp>
        <p:nvSpPr>
          <p:cNvPr id="21" name="Reason text 3"/>
          <p:cNvSpPr txBox="1"/>
          <p:nvPr/>
        </p:nvSpPr>
        <p:spPr>
          <a:xfrm>
            <a:off x="4343400" y="3630168"/>
            <a:ext cx="4114800" cy="521208"/>
          </a:xfrm>
          <a:prstGeom prst="rect">
            <a:avLst/>
          </a:prstGeom>
          <a:noFill/>
          <a:ln/>
        </p:spPr>
        <p:txBody>
          <a:bodyPr wrap="square" lIns="0" tIns="0" rIns="0" bIns="0" rtlCol="0" anchor="t"/>
          <a:lstStyle/>
          <a:p>
            <a:pPr indent="0" marL="0">
              <a:buNone/>
            </a:pPr>
            <a:r>
              <a:rPr lang="en-US" sz="1400" dirty="0">
                <a:solidFill>
                  <a:schemeClr val="tx1"/>
                </a:solidFill>
              </a:rPr>
              <a:t>Parallel sum, scan and merge sort, with work, span and the Brent bound.</a:t>
            </a:r>
            <a:endParaRPr lang="en-US" sz="1400" dirty="0"/>
          </a:p>
        </p:txBody>
      </p:sp>
      <p:sp>
        <p:nvSpPr>
          <p:cNvPr id="22" name="Endpoints line"/>
          <p:cNvSpPr txBox="1"/>
          <p:nvPr/>
        </p:nvSpPr>
        <p:spPr>
          <a:xfrm>
            <a:off x="548640" y="4297680"/>
            <a:ext cx="8046720" cy="411480"/>
          </a:xfrm>
          <a:prstGeom prst="rect">
            <a:avLst/>
          </a:prstGeom>
          <a:noFill/>
          <a:ln/>
        </p:spPr>
        <p:txBody>
          <a:bodyPr wrap="square" lIns="0" tIns="0" rIns="0" bIns="0" rtlCol="0" anchor="ctr"/>
          <a:lstStyle/>
          <a:p>
            <a:pPr indent="0" marL="0">
              <a:buNone/>
            </a:pPr>
            <a:r>
              <a:rPr lang="en-US" sz="1400" b="1" dirty="0">
                <a:solidFill>
                  <a:schemeClr val="accent1"/>
                </a:solidFill>
              </a:rPr>
              <a:t>In AgriFlow:  </a:t>
            </a:r>
            <a:pPr indent="0" marL="0">
              <a:buNone/>
            </a:pPr>
            <a:r>
              <a:rPr lang="en-US" sz="1400" dirty="0">
                <a:solidFill>
                  <a:schemeClr val="tx1"/>
                </a:solidFill>
              </a:rPr>
              <a:t>/api/prime    /qsort    /hash    /reservoir    /parallel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200" b="1" dirty="0">
                <a:solidFill>
                  <a:schemeClr val="tx2"/>
                </a:solidFill>
              </a:rPr>
              <a:t>How a click becomes a picture</a:t>
            </a:r>
            <a:endParaRPr lang="en-US" sz="3200" dirty="0"/>
          </a:p>
        </p:txBody>
      </p:sp>
      <p:sp>
        <p:nvSpPr>
          <p:cNvPr id="3" name="Flow node 1"/>
          <p:cNvSpPr/>
          <p:nvPr/>
        </p:nvSpPr>
        <p:spPr>
          <a:xfrm>
            <a:off x="502920" y="1371600"/>
            <a:ext cx="1371600" cy="1463040"/>
          </a:xfrm>
          <a:prstGeom prst="roundRect">
            <a:avLst>
              <a:gd name="adj" fmla="val 6667"/>
            </a:avLst>
          </a:prstGeom>
          <a:solidFill>
            <a:schemeClr val="accent3"/>
          </a:solidFill>
          <a:ln w="12700">
            <a:solidFill>
              <a:schemeClr val="accent3"/>
            </a:solidFill>
            <a:prstDash val="solid"/>
          </a:ln>
        </p:spPr>
      </p:sp>
      <p:sp>
        <p:nvSpPr>
          <p:cNvPr id="4" name="Flow text 1"/>
          <p:cNvSpPr txBox="1"/>
          <p:nvPr/>
        </p:nvSpPr>
        <p:spPr>
          <a:xfrm>
            <a:off x="576072" y="1417320"/>
            <a:ext cx="1225296" cy="1371600"/>
          </a:xfrm>
          <a:prstGeom prst="rect">
            <a:avLst/>
          </a:prstGeom>
          <a:noFill/>
          <a:ln/>
        </p:spPr>
        <p:txBody>
          <a:bodyPr wrap="square" lIns="0" tIns="0" rIns="0" bIns="0" rtlCol="0" anchor="ctr"/>
          <a:lstStyle/>
          <a:p>
            <a:pPr algn="ctr" indent="0" marL="0">
              <a:spcAft>
                <a:spcPts val="400"/>
              </a:spcAft>
              <a:buNone/>
            </a:pPr>
            <a:r>
              <a:rPr lang="en-US" sz="1400" b="1" dirty="0">
                <a:solidFill>
                  <a:schemeClr val="bg1"/>
                </a:solidFill>
              </a:rPr>
              <a:t>Browser</a:t>
            </a:r>
            <a:endParaRPr lang="en-US" sz="1400" dirty="0"/>
          </a:p>
          <a:p>
            <a:pPr algn="ctr" indent="0" marL="0">
              <a:buNone/>
            </a:pPr>
            <a:r>
              <a:rPr lang="en-US" sz="1200" dirty="0">
                <a:solidFill>
                  <a:schemeClr val="bg1"/>
                </a:solidFill>
              </a:rPr>
              <a:t>web/index.html. You click Run.</a:t>
            </a:r>
            <a:endParaRPr lang="en-US" sz="1400" dirty="0"/>
          </a:p>
        </p:txBody>
      </p:sp>
      <p:sp>
        <p:nvSpPr>
          <p:cNvPr id="5" name="Arrow 1"/>
          <p:cNvSpPr/>
          <p:nvPr/>
        </p:nvSpPr>
        <p:spPr>
          <a:xfrm>
            <a:off x="1901952" y="2103120"/>
            <a:ext cx="265176" cy="0"/>
          </a:xfrm>
          <a:prstGeom prst="line">
            <a:avLst/>
          </a:prstGeom>
          <a:noFill/>
          <a:ln w="25400">
            <a:solidFill>
              <a:schemeClr val="tx1"/>
            </a:solidFill>
            <a:prstDash val="solid"/>
            <a:tailEnd type="triangle"/>
          </a:ln>
        </p:spPr>
      </p:sp>
      <p:sp>
        <p:nvSpPr>
          <p:cNvPr id="6" name="Flow node 2"/>
          <p:cNvSpPr/>
          <p:nvPr/>
        </p:nvSpPr>
        <p:spPr>
          <a:xfrm>
            <a:off x="2194560" y="1371600"/>
            <a:ext cx="1371600" cy="1463040"/>
          </a:xfrm>
          <a:prstGeom prst="roundRect">
            <a:avLst>
              <a:gd name="adj" fmla="val 6667"/>
            </a:avLst>
          </a:prstGeom>
          <a:solidFill>
            <a:schemeClr val="accent1"/>
          </a:solidFill>
          <a:ln w="12700">
            <a:solidFill>
              <a:schemeClr val="accent1"/>
            </a:solidFill>
            <a:prstDash val="solid"/>
          </a:ln>
        </p:spPr>
      </p:sp>
      <p:sp>
        <p:nvSpPr>
          <p:cNvPr id="7" name="Flow text 2"/>
          <p:cNvSpPr txBox="1"/>
          <p:nvPr/>
        </p:nvSpPr>
        <p:spPr>
          <a:xfrm>
            <a:off x="2267712" y="1417320"/>
            <a:ext cx="1225296" cy="1371600"/>
          </a:xfrm>
          <a:prstGeom prst="rect">
            <a:avLst/>
          </a:prstGeom>
          <a:noFill/>
          <a:ln/>
        </p:spPr>
        <p:txBody>
          <a:bodyPr wrap="square" lIns="0" tIns="0" rIns="0" bIns="0" rtlCol="0" anchor="ctr"/>
          <a:lstStyle/>
          <a:p>
            <a:pPr algn="ctr" indent="0" marL="0">
              <a:spcAft>
                <a:spcPts val="400"/>
              </a:spcAft>
              <a:buNone/>
            </a:pPr>
            <a:r>
              <a:rPr lang="en-US" sz="1400" b="1" dirty="0">
                <a:solidFill>
                  <a:schemeClr val="bg1"/>
                </a:solidFill>
              </a:rPr>
              <a:t>Server</a:t>
            </a:r>
            <a:endParaRPr lang="en-US" sz="1400" dirty="0"/>
          </a:p>
          <a:p>
            <a:pPr algn="ctr" indent="0" marL="0">
              <a:buNone/>
            </a:pPr>
            <a:r>
              <a:rPr lang="en-US" sz="1200" dirty="0">
                <a:solidFill>
                  <a:schemeClr val="bg1"/>
                </a:solidFill>
              </a:rPr>
              <a:t>AgriFlowServer routes the path. Q reads the query.</a:t>
            </a:r>
            <a:endParaRPr lang="en-US" sz="1400" dirty="0"/>
          </a:p>
        </p:txBody>
      </p:sp>
      <p:sp>
        <p:nvSpPr>
          <p:cNvPr id="8" name="Arrow 2"/>
          <p:cNvSpPr/>
          <p:nvPr/>
        </p:nvSpPr>
        <p:spPr>
          <a:xfrm>
            <a:off x="3593592" y="2103120"/>
            <a:ext cx="265176" cy="0"/>
          </a:xfrm>
          <a:prstGeom prst="line">
            <a:avLst/>
          </a:prstGeom>
          <a:noFill/>
          <a:ln w="25400">
            <a:solidFill>
              <a:schemeClr val="tx1"/>
            </a:solidFill>
            <a:prstDash val="solid"/>
            <a:tailEnd type="triangle"/>
          </a:ln>
        </p:spPr>
      </p:sp>
      <p:sp>
        <p:nvSpPr>
          <p:cNvPr id="9" name="Flow node 3"/>
          <p:cNvSpPr/>
          <p:nvPr/>
        </p:nvSpPr>
        <p:spPr>
          <a:xfrm>
            <a:off x="3886200" y="1371600"/>
            <a:ext cx="1371600" cy="1463040"/>
          </a:xfrm>
          <a:prstGeom prst="roundRect">
            <a:avLst>
              <a:gd name="adj" fmla="val 6667"/>
            </a:avLst>
          </a:prstGeom>
          <a:solidFill>
            <a:schemeClr val="accent1"/>
          </a:solidFill>
          <a:ln w="12700">
            <a:solidFill>
              <a:schemeClr val="accent1"/>
            </a:solidFill>
            <a:prstDash val="solid"/>
          </a:ln>
        </p:spPr>
      </p:sp>
      <p:sp>
        <p:nvSpPr>
          <p:cNvPr id="10" name="Flow text 3"/>
          <p:cNvSpPr txBox="1"/>
          <p:nvPr/>
        </p:nvSpPr>
        <p:spPr>
          <a:xfrm>
            <a:off x="3959352" y="1417320"/>
            <a:ext cx="1225296" cy="1371600"/>
          </a:xfrm>
          <a:prstGeom prst="rect">
            <a:avLst/>
          </a:prstGeom>
          <a:noFill/>
          <a:ln/>
        </p:spPr>
        <p:txBody>
          <a:bodyPr wrap="square" lIns="0" tIns="0" rIns="0" bIns="0" rtlCol="0" anchor="ctr"/>
          <a:lstStyle/>
          <a:p>
            <a:pPr algn="ctr" indent="0" marL="0">
              <a:spcAft>
                <a:spcPts val="400"/>
              </a:spcAft>
              <a:buNone/>
            </a:pPr>
            <a:r>
              <a:rPr lang="en-US" sz="1400" b="1" dirty="0">
                <a:solidFill>
                  <a:schemeClr val="bg1"/>
                </a:solidFill>
              </a:rPr>
              <a:t>API classes</a:t>
            </a:r>
            <a:endParaRPr lang="en-US" sz="1400" dirty="0"/>
          </a:p>
          <a:p>
            <a:pPr algn="ctr" indent="0" marL="0">
              <a:buNone/>
            </a:pPr>
            <a:r>
              <a:rPr lang="en-US" sz="1200" dirty="0">
                <a:solidFill>
                  <a:schemeClr val="bg1"/>
                </a:solidFill>
              </a:rPr>
              <a:t>ApiStrings or ApiGraph pick the algorithm.</a:t>
            </a:r>
            <a:endParaRPr lang="en-US" sz="1400" dirty="0"/>
          </a:p>
        </p:txBody>
      </p:sp>
      <p:sp>
        <p:nvSpPr>
          <p:cNvPr id="11" name="Arrow 3"/>
          <p:cNvSpPr/>
          <p:nvPr/>
        </p:nvSpPr>
        <p:spPr>
          <a:xfrm>
            <a:off x="5285232" y="2103120"/>
            <a:ext cx="265176" cy="0"/>
          </a:xfrm>
          <a:prstGeom prst="line">
            <a:avLst/>
          </a:prstGeom>
          <a:noFill/>
          <a:ln w="25400">
            <a:solidFill>
              <a:schemeClr val="tx1"/>
            </a:solidFill>
            <a:prstDash val="solid"/>
            <a:tailEnd type="triangle"/>
          </a:ln>
        </p:spPr>
      </p:sp>
      <p:sp>
        <p:nvSpPr>
          <p:cNvPr id="12" name="Flow node 4"/>
          <p:cNvSpPr/>
          <p:nvPr/>
        </p:nvSpPr>
        <p:spPr>
          <a:xfrm>
            <a:off x="5577840" y="1371600"/>
            <a:ext cx="1371600" cy="1463040"/>
          </a:xfrm>
          <a:prstGeom prst="roundRect">
            <a:avLst>
              <a:gd name="adj" fmla="val 6667"/>
            </a:avLst>
          </a:prstGeom>
          <a:solidFill>
            <a:schemeClr val="accent2"/>
          </a:solidFill>
          <a:ln w="12700">
            <a:solidFill>
              <a:schemeClr val="accent2"/>
            </a:solidFill>
            <a:prstDash val="solid"/>
          </a:ln>
        </p:spPr>
      </p:sp>
      <p:sp>
        <p:nvSpPr>
          <p:cNvPr id="13" name="Flow text 4"/>
          <p:cNvSpPr txBox="1"/>
          <p:nvPr/>
        </p:nvSpPr>
        <p:spPr>
          <a:xfrm>
            <a:off x="5650992" y="1417320"/>
            <a:ext cx="1225296" cy="1371600"/>
          </a:xfrm>
          <a:prstGeom prst="rect">
            <a:avLst/>
          </a:prstGeom>
          <a:noFill/>
          <a:ln/>
        </p:spPr>
        <p:txBody>
          <a:bodyPr wrap="square" lIns="0" tIns="0" rIns="0" bIns="0" rtlCol="0" anchor="ctr"/>
          <a:lstStyle/>
          <a:p>
            <a:pPr algn="ctr" indent="0" marL="0">
              <a:spcAft>
                <a:spcPts val="400"/>
              </a:spcAft>
              <a:buNone/>
            </a:pPr>
            <a:r>
              <a:rPr lang="en-US" sz="1400" b="1" dirty="0">
                <a:solidFill>
                  <a:schemeClr val="tx1"/>
                </a:solidFill>
              </a:rPr>
              <a:t>Algorithms</a:t>
            </a:r>
            <a:endParaRPr lang="en-US" sz="1400" dirty="0"/>
          </a:p>
          <a:p>
            <a:pPr algn="ctr" indent="0" marL="0">
              <a:buNone/>
            </a:pPr>
            <a:r>
              <a:rPr lang="en-US" sz="1200" dirty="0">
                <a:solidFill>
                  <a:schemeClr val="tx1"/>
                </a:solidFill>
              </a:rPr>
              <a:t>Hand-built Java does the real work.</a:t>
            </a:r>
            <a:endParaRPr lang="en-US" sz="1400" dirty="0"/>
          </a:p>
        </p:txBody>
      </p:sp>
      <p:sp>
        <p:nvSpPr>
          <p:cNvPr id="14" name="Arrow 4"/>
          <p:cNvSpPr/>
          <p:nvPr/>
        </p:nvSpPr>
        <p:spPr>
          <a:xfrm>
            <a:off x="6976872" y="2103120"/>
            <a:ext cx="265176" cy="0"/>
          </a:xfrm>
          <a:prstGeom prst="line">
            <a:avLst/>
          </a:prstGeom>
          <a:noFill/>
          <a:ln w="25400">
            <a:solidFill>
              <a:schemeClr val="tx1"/>
            </a:solidFill>
            <a:prstDash val="solid"/>
            <a:tailEnd type="triangle"/>
          </a:ln>
        </p:spPr>
      </p:sp>
      <p:sp>
        <p:nvSpPr>
          <p:cNvPr id="15" name="Flow node 5"/>
          <p:cNvSpPr/>
          <p:nvPr/>
        </p:nvSpPr>
        <p:spPr>
          <a:xfrm>
            <a:off x="7269480" y="1371600"/>
            <a:ext cx="1371600" cy="1463040"/>
          </a:xfrm>
          <a:prstGeom prst="roundRect">
            <a:avLst>
              <a:gd name="adj" fmla="val 6667"/>
            </a:avLst>
          </a:prstGeom>
          <a:solidFill>
            <a:schemeClr val="accent3"/>
          </a:solidFill>
          <a:ln w="12700">
            <a:solidFill>
              <a:schemeClr val="accent3"/>
            </a:solidFill>
            <a:prstDash val="solid"/>
          </a:ln>
        </p:spPr>
      </p:sp>
      <p:sp>
        <p:nvSpPr>
          <p:cNvPr id="16" name="Flow text 5"/>
          <p:cNvSpPr txBox="1"/>
          <p:nvPr/>
        </p:nvSpPr>
        <p:spPr>
          <a:xfrm>
            <a:off x="7342632" y="1417320"/>
            <a:ext cx="1225296" cy="1371600"/>
          </a:xfrm>
          <a:prstGeom prst="rect">
            <a:avLst/>
          </a:prstGeom>
          <a:noFill/>
          <a:ln/>
        </p:spPr>
        <p:txBody>
          <a:bodyPr wrap="square" lIns="0" tIns="0" rIns="0" bIns="0" rtlCol="0" anchor="ctr"/>
          <a:lstStyle/>
          <a:p>
            <a:pPr algn="ctr" indent="0" marL="0">
              <a:spcAft>
                <a:spcPts val="400"/>
              </a:spcAft>
              <a:buNone/>
            </a:pPr>
            <a:r>
              <a:rPr lang="en-US" sz="1400" b="1" dirty="0">
                <a:solidFill>
                  <a:schemeClr val="bg1"/>
                </a:solidFill>
              </a:rPr>
              <a:t>JSON</a:t>
            </a:r>
            <a:endParaRPr lang="en-US" sz="1400" dirty="0"/>
          </a:p>
          <a:p>
            <a:pPr algn="ctr" indent="0" marL="0">
              <a:buNone/>
            </a:pPr>
            <a:r>
              <a:rPr lang="en-US" sz="1200" dirty="0">
                <a:solidFill>
                  <a:schemeClr val="bg1"/>
                </a:solidFill>
              </a:rPr>
              <a:t>Json builds the answer to send back.</a:t>
            </a:r>
            <a:endParaRPr lang="en-US" sz="1400" dirty="0"/>
          </a:p>
        </p:txBody>
      </p:sp>
      <p:sp>
        <p:nvSpPr>
          <p:cNvPr id="17" name="Return down"/>
          <p:cNvSpPr/>
          <p:nvPr/>
        </p:nvSpPr>
        <p:spPr>
          <a:xfrm>
            <a:off x="7955280" y="2834640"/>
            <a:ext cx="0" cy="365760"/>
          </a:xfrm>
          <a:prstGeom prst="line">
            <a:avLst/>
          </a:prstGeom>
          <a:noFill/>
          <a:ln w="25400">
            <a:solidFill>
              <a:schemeClr val="tx1"/>
            </a:solidFill>
            <a:prstDash val="solid"/>
          </a:ln>
        </p:spPr>
      </p:sp>
      <p:sp>
        <p:nvSpPr>
          <p:cNvPr id="18" name="Return across"/>
          <p:cNvSpPr/>
          <p:nvPr/>
        </p:nvSpPr>
        <p:spPr>
          <a:xfrm>
            <a:off x="1188720" y="3200400"/>
            <a:ext cx="6766560" cy="0"/>
          </a:xfrm>
          <a:prstGeom prst="line">
            <a:avLst/>
          </a:prstGeom>
          <a:noFill/>
          <a:ln w="25400">
            <a:solidFill>
              <a:schemeClr val="tx1"/>
            </a:solidFill>
            <a:prstDash val="solid"/>
          </a:ln>
        </p:spPr>
      </p:sp>
      <p:sp>
        <p:nvSpPr>
          <p:cNvPr id="19" name="Return up"/>
          <p:cNvSpPr/>
          <p:nvPr/>
        </p:nvSpPr>
        <p:spPr>
          <a:xfrm flipV="1">
            <a:off x="1188720" y="2834640"/>
            <a:ext cx="0" cy="365760"/>
          </a:xfrm>
          <a:prstGeom prst="line">
            <a:avLst/>
          </a:prstGeom>
          <a:noFill/>
          <a:ln w="25400">
            <a:solidFill>
              <a:schemeClr val="tx1"/>
            </a:solidFill>
            <a:prstDash val="solid"/>
            <a:tailEnd type="triangle"/>
          </a:ln>
        </p:spPr>
      </p:sp>
      <p:sp>
        <p:nvSpPr>
          <p:cNvPr id="20" name="Return label"/>
          <p:cNvSpPr txBox="1"/>
          <p:nvPr/>
        </p:nvSpPr>
        <p:spPr>
          <a:xfrm>
            <a:off x="1645920" y="3255264"/>
            <a:ext cx="5852160" cy="320040"/>
          </a:xfrm>
          <a:prstGeom prst="rect">
            <a:avLst/>
          </a:prstGeom>
          <a:noFill/>
          <a:ln/>
        </p:spPr>
        <p:txBody>
          <a:bodyPr wrap="square" lIns="0" tIns="0" rIns="0" bIns="0" rtlCol="0" anchor="ctr"/>
          <a:lstStyle/>
          <a:p>
            <a:pPr algn="ctr" indent="0" marL="0">
              <a:buNone/>
            </a:pPr>
            <a:r>
              <a:rPr lang="en-US" sz="1400" dirty="0">
                <a:solidFill>
                  <a:schemeClr val="tx1"/>
                </a:solidFill>
              </a:rPr>
              <a:t>JSON goes back, and the page draws the grid, graph or map</a:t>
            </a:r>
            <a:endParaRPr lang="en-US" sz="1400" dirty="0"/>
          </a:p>
        </p:txBody>
      </p:sp>
      <p:sp>
        <p:nvSpPr>
          <p:cNvPr id="21" name="Example box"/>
          <p:cNvSpPr/>
          <p:nvPr/>
        </p:nvSpPr>
        <p:spPr>
          <a:xfrm>
            <a:off x="548640" y="3794760"/>
            <a:ext cx="8046720" cy="777240"/>
          </a:xfrm>
          <a:prstGeom prst="roundRect">
            <a:avLst>
              <a:gd name="adj" fmla="val 11765"/>
            </a:avLst>
          </a:prstGeom>
          <a:solidFill>
            <a:schemeClr val="bg2"/>
          </a:solidFill>
          <a:ln w="12700">
            <a:solidFill>
              <a:schemeClr val="bg2"/>
            </a:solidFill>
            <a:prstDash val="solid"/>
          </a:ln>
        </p:spPr>
      </p:sp>
      <p:sp>
        <p:nvSpPr>
          <p:cNvPr id="22" name="Example text"/>
          <p:cNvSpPr txBox="1"/>
          <p:nvPr/>
        </p:nvSpPr>
        <p:spPr>
          <a:xfrm>
            <a:off x="731520" y="3840480"/>
            <a:ext cx="7680960" cy="685800"/>
          </a:xfrm>
          <a:prstGeom prst="rect">
            <a:avLst/>
          </a:prstGeom>
          <a:noFill/>
          <a:ln/>
        </p:spPr>
        <p:txBody>
          <a:bodyPr wrap="square" lIns="0" tIns="0" rIns="0" bIns="0" rtlCol="0" anchor="ctr"/>
          <a:lstStyle/>
          <a:p>
            <a:pPr indent="0" marL="0">
              <a:buNone/>
            </a:pPr>
            <a:r>
              <a:rPr lang="en-US" sz="1400" b="1" dirty="0">
                <a:solidFill>
                  <a:schemeClr val="accent1"/>
                </a:solidFill>
              </a:rPr>
              <a:t>Example:  </a:t>
            </a:r>
            <a:pPr indent="0" marL="0">
              <a:buNone/>
            </a:pPr>
            <a:r>
              <a:rPr lang="en-US" sz="1400" dirty="0">
                <a:solidFill>
                  <a:schemeClr val="tx1"/>
                </a:solidFill>
              </a:rPr>
              <a:t>GET /api/flow  runs Dinic max-flow, returns the flow and min-cut as JSON, and the page draws the pipe network with the cut edges.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200" b="1" dirty="0">
                <a:solidFill>
                  <a:schemeClr val="tx2"/>
                </a:solidFill>
              </a:rPr>
              <a:t>Results from the running app</a:t>
            </a:r>
            <a:endParaRPr lang="en-US" sz="3200" dirty="0"/>
          </a:p>
        </p:txBody>
      </p:sp>
      <p:pic>
        <p:nvPicPr>
          <p:cNvPr id="3" name="Flow lab screenshot" descr="Water network lab showing max flow 26 and the minimum cut">    </p:cNvPr>
          <p:cNvPicPr>
            <a:picLocks noChangeAspect="1"/>
          </p:cNvPicPr>
          <p:nvPr/>
        </p:nvPicPr>
        <p:blipFill>
          <a:blip r:embed="rId1"/>
          <a:stretch>
            <a:fillRect/>
          </a:stretch>
        </p:blipFill>
        <p:spPr>
          <a:xfrm>
            <a:off x="548640" y="1188720"/>
            <a:ext cx="3840480" cy="3172968"/>
          </a:xfrm>
          <a:prstGeom prst="rect">
            <a:avLst/>
          </a:prstGeom>
        </p:spPr>
      </p:pic>
      <p:sp>
        <p:nvSpPr>
          <p:cNvPr id="4" name="Result card 1"/>
          <p:cNvSpPr/>
          <p:nvPr/>
        </p:nvSpPr>
        <p:spPr>
          <a:xfrm>
            <a:off x="4663440" y="1188720"/>
            <a:ext cx="3931920" cy="731520"/>
          </a:xfrm>
          <a:prstGeom prst="roundRect">
            <a:avLst>
              <a:gd name="adj" fmla="val 12500"/>
            </a:avLst>
          </a:prstGeom>
          <a:solidFill>
            <a:schemeClr val="bg2"/>
          </a:solidFill>
          <a:ln w="12700">
            <a:solidFill>
              <a:schemeClr val="bg2"/>
            </a:solidFill>
            <a:prstDash val="solid"/>
          </a:ln>
        </p:spPr>
      </p:sp>
      <p:sp>
        <p:nvSpPr>
          <p:cNvPr id="5" name="Result value 1"/>
          <p:cNvSpPr txBox="1"/>
          <p:nvPr/>
        </p:nvSpPr>
        <p:spPr>
          <a:xfrm>
            <a:off x="4754880" y="1188720"/>
            <a:ext cx="1234440" cy="731520"/>
          </a:xfrm>
          <a:prstGeom prst="rect">
            <a:avLst/>
          </a:prstGeom>
          <a:noFill/>
          <a:ln/>
        </p:spPr>
        <p:txBody>
          <a:bodyPr wrap="square" lIns="0" tIns="0" rIns="0" bIns="0" rtlCol="0" anchor="ctr"/>
          <a:lstStyle/>
          <a:p>
            <a:pPr algn="ctr" indent="0" marL="0">
              <a:buNone/>
            </a:pPr>
            <a:r>
              <a:rPr lang="en-US" sz="2000" b="1" dirty="0">
                <a:solidFill>
                  <a:schemeClr val="accent1"/>
                </a:solidFill>
              </a:rPr>
              <a:t>30x</a:t>
            </a:r>
            <a:endParaRPr lang="en-US" sz="2000" dirty="0"/>
          </a:p>
        </p:txBody>
      </p:sp>
      <p:sp>
        <p:nvSpPr>
          <p:cNvPr id="6" name="Result text 1"/>
          <p:cNvSpPr txBox="1"/>
          <p:nvPr/>
        </p:nvSpPr>
        <p:spPr>
          <a:xfrm>
            <a:off x="6035040" y="1216152"/>
            <a:ext cx="2514600" cy="676656"/>
          </a:xfrm>
          <a:prstGeom prst="rect">
            <a:avLst/>
          </a:prstGeom>
          <a:noFill/>
          <a:ln/>
        </p:spPr>
        <p:txBody>
          <a:bodyPr wrap="square" lIns="0" tIns="0" rIns="0" bIns="0" rtlCol="0" anchor="ctr"/>
          <a:lstStyle/>
          <a:p>
            <a:pPr indent="0" marL="0">
              <a:buNone/>
            </a:pPr>
            <a:r>
              <a:rPr lang="en-US" sz="1400" dirty="0">
                <a:solidFill>
                  <a:schemeClr val="tx1"/>
                </a:solidFill>
              </a:rPr>
              <a:t>fewer comparisons, KMP vs naive on the worst case</a:t>
            </a:r>
            <a:endParaRPr lang="en-US" sz="1400" dirty="0"/>
          </a:p>
        </p:txBody>
      </p:sp>
      <p:sp>
        <p:nvSpPr>
          <p:cNvPr id="7" name="Result card 2"/>
          <p:cNvSpPr/>
          <p:nvPr/>
        </p:nvSpPr>
        <p:spPr>
          <a:xfrm>
            <a:off x="4663440" y="2011680"/>
            <a:ext cx="3931920" cy="731520"/>
          </a:xfrm>
          <a:prstGeom prst="roundRect">
            <a:avLst>
              <a:gd name="adj" fmla="val 12500"/>
            </a:avLst>
          </a:prstGeom>
          <a:solidFill>
            <a:schemeClr val="bg2"/>
          </a:solidFill>
          <a:ln w="12700">
            <a:solidFill>
              <a:schemeClr val="bg2"/>
            </a:solidFill>
            <a:prstDash val="solid"/>
          </a:ln>
        </p:spPr>
      </p:sp>
      <p:sp>
        <p:nvSpPr>
          <p:cNvPr id="8" name="Result value 2"/>
          <p:cNvSpPr txBox="1"/>
          <p:nvPr/>
        </p:nvSpPr>
        <p:spPr>
          <a:xfrm>
            <a:off x="4754880" y="2011680"/>
            <a:ext cx="1234440" cy="731520"/>
          </a:xfrm>
          <a:prstGeom prst="rect">
            <a:avLst/>
          </a:prstGeom>
          <a:noFill/>
          <a:ln/>
        </p:spPr>
        <p:txBody>
          <a:bodyPr wrap="square" lIns="0" tIns="0" rIns="0" bIns="0" rtlCol="0" anchor="ctr"/>
          <a:lstStyle/>
          <a:p>
            <a:pPr algn="ctr" indent="0" marL="0">
              <a:buNone/>
            </a:pPr>
            <a:r>
              <a:rPr lang="en-US" sz="2000" b="1" dirty="0">
                <a:solidFill>
                  <a:schemeClr val="accent1"/>
                </a:solidFill>
              </a:rPr>
              <a:t>26 = 26</a:t>
            </a:r>
            <a:endParaRPr lang="en-US" sz="2000" dirty="0"/>
          </a:p>
        </p:txBody>
      </p:sp>
      <p:sp>
        <p:nvSpPr>
          <p:cNvPr id="9" name="Result text 2"/>
          <p:cNvSpPr txBox="1"/>
          <p:nvPr/>
        </p:nvSpPr>
        <p:spPr>
          <a:xfrm>
            <a:off x="6035040" y="2039112"/>
            <a:ext cx="2514600" cy="676656"/>
          </a:xfrm>
          <a:prstGeom prst="rect">
            <a:avLst/>
          </a:prstGeom>
          <a:noFill/>
          <a:ln/>
        </p:spPr>
        <p:txBody>
          <a:bodyPr wrap="square" lIns="0" tIns="0" rIns="0" bIns="0" rtlCol="0" anchor="ctr"/>
          <a:lstStyle/>
          <a:p>
            <a:pPr indent="0" marL="0">
              <a:buNone/>
            </a:pPr>
            <a:r>
              <a:rPr lang="en-US" sz="1400" dirty="0">
                <a:solidFill>
                  <a:schemeClr val="tx1"/>
                </a:solidFill>
              </a:rPr>
              <a:t>max flow equals min cut in the water network</a:t>
            </a:r>
            <a:endParaRPr lang="en-US" sz="1400" dirty="0"/>
          </a:p>
        </p:txBody>
      </p:sp>
      <p:sp>
        <p:nvSpPr>
          <p:cNvPr id="10" name="Result card 3"/>
          <p:cNvSpPr/>
          <p:nvPr/>
        </p:nvSpPr>
        <p:spPr>
          <a:xfrm>
            <a:off x="4663440" y="2834640"/>
            <a:ext cx="3931920" cy="731520"/>
          </a:xfrm>
          <a:prstGeom prst="roundRect">
            <a:avLst>
              <a:gd name="adj" fmla="val 12500"/>
            </a:avLst>
          </a:prstGeom>
          <a:solidFill>
            <a:schemeClr val="bg2"/>
          </a:solidFill>
          <a:ln w="12700">
            <a:solidFill>
              <a:schemeClr val="bg2"/>
            </a:solidFill>
            <a:prstDash val="solid"/>
          </a:ln>
        </p:spPr>
      </p:sp>
      <p:sp>
        <p:nvSpPr>
          <p:cNvPr id="11" name="Result value 3"/>
          <p:cNvSpPr txBox="1"/>
          <p:nvPr/>
        </p:nvSpPr>
        <p:spPr>
          <a:xfrm>
            <a:off x="4754880" y="2834640"/>
            <a:ext cx="1234440" cy="731520"/>
          </a:xfrm>
          <a:prstGeom prst="rect">
            <a:avLst/>
          </a:prstGeom>
          <a:noFill/>
          <a:ln/>
        </p:spPr>
        <p:txBody>
          <a:bodyPr wrap="square" lIns="0" tIns="0" rIns="0" bIns="0" rtlCol="0" anchor="ctr"/>
          <a:lstStyle/>
          <a:p>
            <a:pPr algn="ctr" indent="0" marL="0">
              <a:buNone/>
            </a:pPr>
            <a:r>
              <a:rPr lang="en-US" sz="2000" b="1" dirty="0">
                <a:solidFill>
                  <a:schemeClr val="accent1"/>
                </a:solidFill>
              </a:rPr>
              <a:t>+14%</a:t>
            </a:r>
            <a:endParaRPr lang="en-US" sz="2000" dirty="0"/>
          </a:p>
        </p:txBody>
      </p:sp>
      <p:sp>
        <p:nvSpPr>
          <p:cNvPr id="12" name="Result text 3"/>
          <p:cNvSpPr txBox="1"/>
          <p:nvPr/>
        </p:nvSpPr>
        <p:spPr>
          <a:xfrm>
            <a:off x="6035040" y="2862072"/>
            <a:ext cx="2514600" cy="676656"/>
          </a:xfrm>
          <a:prstGeom prst="rect">
            <a:avLst/>
          </a:prstGeom>
          <a:noFill/>
          <a:ln/>
        </p:spPr>
        <p:txBody>
          <a:bodyPr wrap="square" lIns="0" tIns="0" rIns="0" bIns="0" rtlCol="0" anchor="ctr"/>
          <a:lstStyle/>
          <a:p>
            <a:pPr indent="0" marL="0">
              <a:buNone/>
            </a:pPr>
            <a:r>
              <a:rPr lang="en-US" sz="1400" dirty="0">
                <a:solidFill>
                  <a:schemeClr val="tx1"/>
                </a:solidFill>
              </a:rPr>
              <a:t>nearest-neighbour route vs exact, 8 farms</a:t>
            </a:r>
            <a:endParaRPr lang="en-US" sz="1400" dirty="0"/>
          </a:p>
        </p:txBody>
      </p:sp>
      <p:sp>
        <p:nvSpPr>
          <p:cNvPr id="13" name="Result card 4"/>
          <p:cNvSpPr/>
          <p:nvPr/>
        </p:nvSpPr>
        <p:spPr>
          <a:xfrm>
            <a:off x="4663440" y="3657600"/>
            <a:ext cx="3931920" cy="731520"/>
          </a:xfrm>
          <a:prstGeom prst="roundRect">
            <a:avLst>
              <a:gd name="adj" fmla="val 12500"/>
            </a:avLst>
          </a:prstGeom>
          <a:solidFill>
            <a:schemeClr val="bg2"/>
          </a:solidFill>
          <a:ln w="12700">
            <a:solidFill>
              <a:schemeClr val="bg2"/>
            </a:solidFill>
            <a:prstDash val="solid"/>
          </a:ln>
        </p:spPr>
      </p:sp>
      <p:sp>
        <p:nvSpPr>
          <p:cNvPr id="14" name="Result value 4"/>
          <p:cNvSpPr txBox="1"/>
          <p:nvPr/>
        </p:nvSpPr>
        <p:spPr>
          <a:xfrm>
            <a:off x="4754880" y="3657600"/>
            <a:ext cx="1234440" cy="731520"/>
          </a:xfrm>
          <a:prstGeom prst="rect">
            <a:avLst/>
          </a:prstGeom>
          <a:noFill/>
          <a:ln/>
        </p:spPr>
        <p:txBody>
          <a:bodyPr wrap="square" lIns="0" tIns="0" rIns="0" bIns="0" rtlCol="0" anchor="ctr"/>
          <a:lstStyle/>
          <a:p>
            <a:pPr algn="ctr" indent="0" marL="0">
              <a:buNone/>
            </a:pPr>
            <a:r>
              <a:rPr lang="en-US" sz="2000" b="1" dirty="0">
                <a:solidFill>
                  <a:schemeClr val="accent1"/>
                </a:solidFill>
              </a:rPr>
              <a:t>0 fails</a:t>
            </a:r>
            <a:endParaRPr lang="en-US" sz="2000" dirty="0"/>
          </a:p>
        </p:txBody>
      </p:sp>
      <p:sp>
        <p:nvSpPr>
          <p:cNvPr id="15" name="Result text 4"/>
          <p:cNvSpPr txBox="1"/>
          <p:nvPr/>
        </p:nvSpPr>
        <p:spPr>
          <a:xfrm>
            <a:off x="6035040" y="3685032"/>
            <a:ext cx="2514600" cy="676656"/>
          </a:xfrm>
          <a:prstGeom prst="rect">
            <a:avLst/>
          </a:prstGeom>
          <a:noFill/>
          <a:ln/>
        </p:spPr>
        <p:txBody>
          <a:bodyPr wrap="square" lIns="0" tIns="0" rIns="0" bIns="0" rtlCol="0" anchor="ctr"/>
          <a:lstStyle/>
          <a:p>
            <a:pPr indent="0" marL="0">
              <a:buNone/>
            </a:pPr>
            <a:r>
              <a:rPr lang="en-US" sz="1400" dirty="0">
                <a:solidFill>
                  <a:schemeClr val="tx1"/>
                </a:solidFill>
              </a:rPr>
              <a:t>in 54,614 random self-checks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200" b="1" dirty="0">
                <a:solidFill>
                  <a:schemeClr val="tx2"/>
                </a:solidFill>
              </a:rPr>
              <a:t>Future implementation</a:t>
            </a:r>
            <a:endParaRPr lang="en-US" sz="3200" dirty="0"/>
          </a:p>
        </p:txBody>
      </p:sp>
      <p:sp>
        <p:nvSpPr>
          <p:cNvPr id="3" name="Future card 1"/>
          <p:cNvSpPr/>
          <p:nvPr/>
        </p:nvSpPr>
        <p:spPr>
          <a:xfrm>
            <a:off x="548640" y="1188720"/>
            <a:ext cx="2560320" cy="1463040"/>
          </a:xfrm>
          <a:prstGeom prst="roundRect">
            <a:avLst>
              <a:gd name="adj" fmla="val 6250"/>
            </a:avLst>
          </a:prstGeom>
          <a:solidFill>
            <a:schemeClr val="bg2"/>
          </a:solidFill>
          <a:ln w="12700">
            <a:solidFill>
              <a:schemeClr val="bg2"/>
            </a:solidFill>
            <a:prstDash val="solid"/>
          </a:ln>
        </p:spPr>
      </p:sp>
      <p:sp>
        <p:nvSpPr>
          <p:cNvPr id="4" name="Future 1 circle"/>
          <p:cNvSpPr/>
          <p:nvPr/>
        </p:nvSpPr>
        <p:spPr>
          <a:xfrm>
            <a:off x="685800" y="1307592"/>
            <a:ext cx="457200" cy="457200"/>
          </a:xfrm>
          <a:prstGeom prst="ellipse">
            <a:avLst/>
          </a:prstGeom>
          <a:solidFill>
            <a:schemeClr val="accent1"/>
          </a:solidFill>
          <a:ln w="12700">
            <a:solidFill>
              <a:schemeClr val="accent1"/>
            </a:solidFill>
            <a:prstDash val="solid"/>
          </a:ln>
        </p:spPr>
      </p:sp>
      <p:pic>
        <p:nvPicPr>
          <p:cNvPr id="5" name="Future 1 icon" descr="Future 1">    </p:cNvPr>
          <p:cNvPicPr>
            <a:picLocks noChangeAspect="1"/>
          </p:cNvPicPr>
          <p:nvPr/>
        </p:nvPicPr>
        <p:blipFill>
          <a:blip r:embed="rId1"/>
          <a:stretch>
            <a:fillRect/>
          </a:stretch>
        </p:blipFill>
        <p:spPr>
          <a:xfrm>
            <a:off x="786384" y="1408176"/>
            <a:ext cx="256032" cy="256032"/>
          </a:xfrm>
          <a:prstGeom prst="rect">
            <a:avLst/>
          </a:prstGeom>
        </p:spPr>
      </p:pic>
      <p:sp>
        <p:nvSpPr>
          <p:cNvPr id="6" name="Future heading 1"/>
          <p:cNvSpPr txBox="1"/>
          <p:nvPr/>
        </p:nvSpPr>
        <p:spPr>
          <a:xfrm>
            <a:off x="1234440" y="1307592"/>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Load real datasets</a:t>
            </a:r>
            <a:endParaRPr lang="en-US" sz="1600" dirty="0"/>
          </a:p>
        </p:txBody>
      </p:sp>
      <p:sp>
        <p:nvSpPr>
          <p:cNvPr id="7" name="Future text 1"/>
          <p:cNvSpPr txBox="1"/>
          <p:nvPr/>
        </p:nvSpPr>
        <p:spPr>
          <a:xfrm>
            <a:off x="685800" y="1847088"/>
            <a:ext cx="2286000" cy="749808"/>
          </a:xfrm>
          <a:prstGeom prst="rect">
            <a:avLst/>
          </a:prstGeom>
          <a:noFill/>
          <a:ln/>
        </p:spPr>
        <p:txBody>
          <a:bodyPr wrap="square" lIns="0" tIns="0" rIns="0" bIns="0" rtlCol="0" anchor="t"/>
          <a:lstStyle/>
          <a:p>
            <a:pPr indent="0" marL="0">
              <a:buNone/>
            </a:pPr>
            <a:r>
              <a:rPr lang="en-US" sz="1400" dirty="0">
                <a:solidFill>
                  <a:schemeClr val="tx1"/>
                </a:solidFill>
              </a:rPr>
              <a:t>Upload a CSV of real farm records instead of the built-in 15.</a:t>
            </a:r>
            <a:endParaRPr lang="en-US" sz="1400" dirty="0"/>
          </a:p>
        </p:txBody>
      </p:sp>
      <p:sp>
        <p:nvSpPr>
          <p:cNvPr id="8" name="Future card 2"/>
          <p:cNvSpPr/>
          <p:nvPr/>
        </p:nvSpPr>
        <p:spPr>
          <a:xfrm>
            <a:off x="3291840" y="1188720"/>
            <a:ext cx="2560320" cy="1463040"/>
          </a:xfrm>
          <a:prstGeom prst="roundRect">
            <a:avLst>
              <a:gd name="adj" fmla="val 6250"/>
            </a:avLst>
          </a:prstGeom>
          <a:solidFill>
            <a:schemeClr val="bg2"/>
          </a:solidFill>
          <a:ln w="12700">
            <a:solidFill>
              <a:schemeClr val="bg2"/>
            </a:solidFill>
            <a:prstDash val="solid"/>
          </a:ln>
        </p:spPr>
      </p:sp>
      <p:sp>
        <p:nvSpPr>
          <p:cNvPr id="9" name="Future 2 circle"/>
          <p:cNvSpPr/>
          <p:nvPr/>
        </p:nvSpPr>
        <p:spPr>
          <a:xfrm>
            <a:off x="3429000" y="1307592"/>
            <a:ext cx="457200" cy="457200"/>
          </a:xfrm>
          <a:prstGeom prst="ellipse">
            <a:avLst/>
          </a:prstGeom>
          <a:solidFill>
            <a:schemeClr val="accent1"/>
          </a:solidFill>
          <a:ln w="12700">
            <a:solidFill>
              <a:schemeClr val="accent1"/>
            </a:solidFill>
            <a:prstDash val="solid"/>
          </a:ln>
        </p:spPr>
      </p:sp>
      <p:pic>
        <p:nvPicPr>
          <p:cNvPr id="10" name="Future 2 icon" descr="Future 2">    </p:cNvPr>
          <p:cNvPicPr>
            <a:picLocks noChangeAspect="1"/>
          </p:cNvPicPr>
          <p:nvPr/>
        </p:nvPicPr>
        <p:blipFill>
          <a:blip r:embed="rId2"/>
          <a:stretch>
            <a:fillRect/>
          </a:stretch>
        </p:blipFill>
        <p:spPr>
          <a:xfrm>
            <a:off x="3529584" y="1408176"/>
            <a:ext cx="256032" cy="256032"/>
          </a:xfrm>
          <a:prstGeom prst="rect">
            <a:avLst/>
          </a:prstGeom>
        </p:spPr>
      </p:pic>
      <p:sp>
        <p:nvSpPr>
          <p:cNvPr id="11" name="Future heading 2"/>
          <p:cNvSpPr txBox="1"/>
          <p:nvPr/>
        </p:nvSpPr>
        <p:spPr>
          <a:xfrm>
            <a:off x="3977640" y="1307592"/>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Step-by-step player</a:t>
            </a:r>
            <a:endParaRPr lang="en-US" sz="1600" dirty="0"/>
          </a:p>
        </p:txBody>
      </p:sp>
      <p:sp>
        <p:nvSpPr>
          <p:cNvPr id="12" name="Future text 2"/>
          <p:cNvSpPr txBox="1"/>
          <p:nvPr/>
        </p:nvSpPr>
        <p:spPr>
          <a:xfrm>
            <a:off x="3429000" y="1847088"/>
            <a:ext cx="2286000" cy="749808"/>
          </a:xfrm>
          <a:prstGeom prst="rect">
            <a:avLst/>
          </a:prstGeom>
          <a:noFill/>
          <a:ln/>
        </p:spPr>
        <p:txBody>
          <a:bodyPr wrap="square" lIns="0" tIns="0" rIns="0" bIns="0" rtlCol="0" anchor="t"/>
          <a:lstStyle/>
          <a:p>
            <a:pPr indent="0" marL="0">
              <a:buNone/>
            </a:pPr>
            <a:r>
              <a:rPr lang="en-US" sz="1400" dirty="0">
                <a:solidFill>
                  <a:schemeClr val="tx1"/>
                </a:solidFill>
              </a:rPr>
              <a:t>Pause, rewind and step through each algorithm like a video.</a:t>
            </a:r>
            <a:endParaRPr lang="en-US" sz="1400" dirty="0"/>
          </a:p>
        </p:txBody>
      </p:sp>
      <p:sp>
        <p:nvSpPr>
          <p:cNvPr id="13" name="Future card 3"/>
          <p:cNvSpPr/>
          <p:nvPr/>
        </p:nvSpPr>
        <p:spPr>
          <a:xfrm>
            <a:off x="6035040" y="1188720"/>
            <a:ext cx="2560320" cy="1463040"/>
          </a:xfrm>
          <a:prstGeom prst="roundRect">
            <a:avLst>
              <a:gd name="adj" fmla="val 6250"/>
            </a:avLst>
          </a:prstGeom>
          <a:solidFill>
            <a:schemeClr val="bg2"/>
          </a:solidFill>
          <a:ln w="12700">
            <a:solidFill>
              <a:schemeClr val="bg2"/>
            </a:solidFill>
            <a:prstDash val="solid"/>
          </a:ln>
        </p:spPr>
      </p:sp>
      <p:sp>
        <p:nvSpPr>
          <p:cNvPr id="14" name="Future 3 circle"/>
          <p:cNvSpPr/>
          <p:nvPr/>
        </p:nvSpPr>
        <p:spPr>
          <a:xfrm>
            <a:off x="6172200" y="1307592"/>
            <a:ext cx="457200" cy="457200"/>
          </a:xfrm>
          <a:prstGeom prst="ellipse">
            <a:avLst/>
          </a:prstGeom>
          <a:solidFill>
            <a:schemeClr val="accent1"/>
          </a:solidFill>
          <a:ln w="12700">
            <a:solidFill>
              <a:schemeClr val="accent1"/>
            </a:solidFill>
            <a:prstDash val="solid"/>
          </a:ln>
        </p:spPr>
      </p:sp>
      <p:pic>
        <p:nvPicPr>
          <p:cNvPr id="15" name="Future 3 icon" descr="Future 3">    </p:cNvPr>
          <p:cNvPicPr>
            <a:picLocks noChangeAspect="1"/>
          </p:cNvPicPr>
          <p:nvPr/>
        </p:nvPicPr>
        <p:blipFill>
          <a:blip r:embed="rId3"/>
          <a:stretch>
            <a:fillRect/>
          </a:stretch>
        </p:blipFill>
        <p:spPr>
          <a:xfrm>
            <a:off x="6272784" y="1408176"/>
            <a:ext cx="256032" cy="256032"/>
          </a:xfrm>
          <a:prstGeom prst="rect">
            <a:avLst/>
          </a:prstGeom>
        </p:spPr>
      </p:pic>
      <p:sp>
        <p:nvSpPr>
          <p:cNvPr id="16" name="Future heading 3"/>
          <p:cNvSpPr txBox="1"/>
          <p:nvPr/>
        </p:nvSpPr>
        <p:spPr>
          <a:xfrm>
            <a:off x="6720840" y="1307592"/>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Live farm feeds</a:t>
            </a:r>
            <a:endParaRPr lang="en-US" sz="1600" dirty="0"/>
          </a:p>
        </p:txBody>
      </p:sp>
      <p:sp>
        <p:nvSpPr>
          <p:cNvPr id="17" name="Future text 3"/>
          <p:cNvSpPr txBox="1"/>
          <p:nvPr/>
        </p:nvSpPr>
        <p:spPr>
          <a:xfrm>
            <a:off x="6172200" y="1847088"/>
            <a:ext cx="2286000" cy="749808"/>
          </a:xfrm>
          <a:prstGeom prst="rect">
            <a:avLst/>
          </a:prstGeom>
          <a:noFill/>
          <a:ln/>
        </p:spPr>
        <p:txBody>
          <a:bodyPr wrap="square" lIns="0" tIns="0" rIns="0" bIns="0" rtlCol="0" anchor="t"/>
          <a:lstStyle/>
          <a:p>
            <a:pPr indent="0" marL="0">
              <a:buNone/>
            </a:pPr>
            <a:r>
              <a:rPr lang="en-US" sz="1400" dirty="0">
                <a:solidFill>
                  <a:schemeClr val="tx1"/>
                </a:solidFill>
              </a:rPr>
              <a:t>Plug in weather and soil-sensor data to drive the flow and routing labs.</a:t>
            </a:r>
            <a:endParaRPr lang="en-US" sz="1400" dirty="0"/>
          </a:p>
        </p:txBody>
      </p:sp>
      <p:sp>
        <p:nvSpPr>
          <p:cNvPr id="18" name="Future card 4"/>
          <p:cNvSpPr/>
          <p:nvPr/>
        </p:nvSpPr>
        <p:spPr>
          <a:xfrm>
            <a:off x="548640" y="2834640"/>
            <a:ext cx="2560320" cy="1463040"/>
          </a:xfrm>
          <a:prstGeom prst="roundRect">
            <a:avLst>
              <a:gd name="adj" fmla="val 6250"/>
            </a:avLst>
          </a:prstGeom>
          <a:solidFill>
            <a:schemeClr val="bg2"/>
          </a:solidFill>
          <a:ln w="12700">
            <a:solidFill>
              <a:schemeClr val="bg2"/>
            </a:solidFill>
            <a:prstDash val="solid"/>
          </a:ln>
        </p:spPr>
      </p:sp>
      <p:sp>
        <p:nvSpPr>
          <p:cNvPr id="19" name="Future 4 circle"/>
          <p:cNvSpPr/>
          <p:nvPr/>
        </p:nvSpPr>
        <p:spPr>
          <a:xfrm>
            <a:off x="685800" y="2953512"/>
            <a:ext cx="457200" cy="457200"/>
          </a:xfrm>
          <a:prstGeom prst="ellipse">
            <a:avLst/>
          </a:prstGeom>
          <a:solidFill>
            <a:schemeClr val="accent1"/>
          </a:solidFill>
          <a:ln w="12700">
            <a:solidFill>
              <a:schemeClr val="accent1"/>
            </a:solidFill>
            <a:prstDash val="solid"/>
          </a:ln>
        </p:spPr>
      </p:sp>
      <p:pic>
        <p:nvPicPr>
          <p:cNvPr id="20" name="Future 4 icon" descr="Future 4">    </p:cNvPr>
          <p:cNvPicPr>
            <a:picLocks noChangeAspect="1"/>
          </p:cNvPicPr>
          <p:nvPr/>
        </p:nvPicPr>
        <p:blipFill>
          <a:blip r:embed="rId4"/>
          <a:stretch>
            <a:fillRect/>
          </a:stretch>
        </p:blipFill>
        <p:spPr>
          <a:xfrm>
            <a:off x="786384" y="3054096"/>
            <a:ext cx="256032" cy="256032"/>
          </a:xfrm>
          <a:prstGeom prst="rect">
            <a:avLst/>
          </a:prstGeom>
        </p:spPr>
      </p:pic>
      <p:sp>
        <p:nvSpPr>
          <p:cNvPr id="21" name="Future heading 4"/>
          <p:cNvSpPr txBox="1"/>
          <p:nvPr/>
        </p:nvSpPr>
        <p:spPr>
          <a:xfrm>
            <a:off x="1234440" y="2953512"/>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Security use-case</a:t>
            </a:r>
            <a:endParaRPr lang="en-US" sz="1600" dirty="0"/>
          </a:p>
        </p:txBody>
      </p:sp>
      <p:sp>
        <p:nvSpPr>
          <p:cNvPr id="22" name="Future text 4"/>
          <p:cNvSpPr txBox="1"/>
          <p:nvPr/>
        </p:nvSpPr>
        <p:spPr>
          <a:xfrm>
            <a:off x="685800" y="3493008"/>
            <a:ext cx="2286000" cy="749808"/>
          </a:xfrm>
          <a:prstGeom prst="rect">
            <a:avLst/>
          </a:prstGeom>
          <a:noFill/>
          <a:ln/>
        </p:spPr>
        <p:txBody>
          <a:bodyPr wrap="square" lIns="0" tIns="0" rIns="0" bIns="0" rtlCol="0" anchor="t"/>
          <a:lstStyle/>
          <a:p>
            <a:pPr indent="0" marL="0">
              <a:buNone/>
            </a:pPr>
            <a:r>
              <a:rPr lang="en-US" sz="1400" dirty="0">
                <a:solidFill>
                  <a:schemeClr val="tx1"/>
                </a:solidFill>
              </a:rPr>
              <a:t>Run Aho-Corasick over log files to spot attack signatures, SOC style.</a:t>
            </a:r>
            <a:endParaRPr lang="en-US" sz="1400" dirty="0"/>
          </a:p>
        </p:txBody>
      </p:sp>
      <p:sp>
        <p:nvSpPr>
          <p:cNvPr id="23" name="Future card 5"/>
          <p:cNvSpPr/>
          <p:nvPr/>
        </p:nvSpPr>
        <p:spPr>
          <a:xfrm>
            <a:off x="3291840" y="2834640"/>
            <a:ext cx="2560320" cy="1463040"/>
          </a:xfrm>
          <a:prstGeom prst="roundRect">
            <a:avLst>
              <a:gd name="adj" fmla="val 6250"/>
            </a:avLst>
          </a:prstGeom>
          <a:solidFill>
            <a:schemeClr val="bg2"/>
          </a:solidFill>
          <a:ln w="12700">
            <a:solidFill>
              <a:schemeClr val="bg2"/>
            </a:solidFill>
            <a:prstDash val="solid"/>
          </a:ln>
        </p:spPr>
      </p:sp>
      <p:sp>
        <p:nvSpPr>
          <p:cNvPr id="24" name="Future 5 circle"/>
          <p:cNvSpPr/>
          <p:nvPr/>
        </p:nvSpPr>
        <p:spPr>
          <a:xfrm>
            <a:off x="3429000" y="2953512"/>
            <a:ext cx="457200" cy="457200"/>
          </a:xfrm>
          <a:prstGeom prst="ellipse">
            <a:avLst/>
          </a:prstGeom>
          <a:solidFill>
            <a:schemeClr val="accent1"/>
          </a:solidFill>
          <a:ln w="12700">
            <a:solidFill>
              <a:schemeClr val="accent1"/>
            </a:solidFill>
            <a:prstDash val="solid"/>
          </a:ln>
        </p:spPr>
      </p:sp>
      <p:pic>
        <p:nvPicPr>
          <p:cNvPr id="25" name="Future 5 icon" descr="Future 5">    </p:cNvPr>
          <p:cNvPicPr>
            <a:picLocks noChangeAspect="1"/>
          </p:cNvPicPr>
          <p:nvPr/>
        </p:nvPicPr>
        <p:blipFill>
          <a:blip r:embed="rId5"/>
          <a:stretch>
            <a:fillRect/>
          </a:stretch>
        </p:blipFill>
        <p:spPr>
          <a:xfrm>
            <a:off x="3529584" y="3054096"/>
            <a:ext cx="256032" cy="256032"/>
          </a:xfrm>
          <a:prstGeom prst="rect">
            <a:avLst/>
          </a:prstGeom>
        </p:spPr>
      </p:pic>
      <p:sp>
        <p:nvSpPr>
          <p:cNvPr id="26" name="Future heading 5"/>
          <p:cNvSpPr txBox="1"/>
          <p:nvPr/>
        </p:nvSpPr>
        <p:spPr>
          <a:xfrm>
            <a:off x="3977640" y="2953512"/>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Save and compare</a:t>
            </a:r>
            <a:endParaRPr lang="en-US" sz="1600" dirty="0"/>
          </a:p>
        </p:txBody>
      </p:sp>
      <p:sp>
        <p:nvSpPr>
          <p:cNvPr id="27" name="Future text 5"/>
          <p:cNvSpPr txBox="1"/>
          <p:nvPr/>
        </p:nvSpPr>
        <p:spPr>
          <a:xfrm>
            <a:off x="3429000" y="3493008"/>
            <a:ext cx="2286000" cy="749808"/>
          </a:xfrm>
          <a:prstGeom prst="rect">
            <a:avLst/>
          </a:prstGeom>
          <a:noFill/>
          <a:ln/>
        </p:spPr>
        <p:txBody>
          <a:bodyPr wrap="square" lIns="0" tIns="0" rIns="0" bIns="0" rtlCol="0" anchor="t"/>
          <a:lstStyle/>
          <a:p>
            <a:pPr indent="0" marL="0">
              <a:buNone/>
            </a:pPr>
            <a:r>
              <a:rPr lang="en-US" sz="1400" dirty="0">
                <a:solidFill>
                  <a:schemeClr val="tx1"/>
                </a:solidFill>
              </a:rPr>
              <a:t>Store runs, compare algorithms side by side, export results.</a:t>
            </a:r>
            <a:endParaRPr lang="en-US" sz="1400" dirty="0"/>
          </a:p>
        </p:txBody>
      </p:sp>
      <p:sp>
        <p:nvSpPr>
          <p:cNvPr id="28" name="Future card 6"/>
          <p:cNvSpPr/>
          <p:nvPr/>
        </p:nvSpPr>
        <p:spPr>
          <a:xfrm>
            <a:off x="6035040" y="2834640"/>
            <a:ext cx="2560320" cy="1463040"/>
          </a:xfrm>
          <a:prstGeom prst="roundRect">
            <a:avLst>
              <a:gd name="adj" fmla="val 6250"/>
            </a:avLst>
          </a:prstGeom>
          <a:solidFill>
            <a:schemeClr val="bg2"/>
          </a:solidFill>
          <a:ln w="12700">
            <a:solidFill>
              <a:schemeClr val="bg2"/>
            </a:solidFill>
            <a:prstDash val="solid"/>
          </a:ln>
        </p:spPr>
      </p:sp>
      <p:sp>
        <p:nvSpPr>
          <p:cNvPr id="29" name="Future 6 circle"/>
          <p:cNvSpPr/>
          <p:nvPr/>
        </p:nvSpPr>
        <p:spPr>
          <a:xfrm>
            <a:off x="6172200" y="2953512"/>
            <a:ext cx="457200" cy="457200"/>
          </a:xfrm>
          <a:prstGeom prst="ellipse">
            <a:avLst/>
          </a:prstGeom>
          <a:solidFill>
            <a:schemeClr val="accent1"/>
          </a:solidFill>
          <a:ln w="12700">
            <a:solidFill>
              <a:schemeClr val="accent1"/>
            </a:solidFill>
            <a:prstDash val="solid"/>
          </a:ln>
        </p:spPr>
      </p:sp>
      <p:pic>
        <p:nvPicPr>
          <p:cNvPr id="30" name="Future 6 icon" descr="Future 6">    </p:cNvPr>
          <p:cNvPicPr>
            <a:picLocks noChangeAspect="1"/>
          </p:cNvPicPr>
          <p:nvPr/>
        </p:nvPicPr>
        <p:blipFill>
          <a:blip r:embed="rId6"/>
          <a:stretch>
            <a:fillRect/>
          </a:stretch>
        </p:blipFill>
        <p:spPr>
          <a:xfrm>
            <a:off x="6272784" y="3054096"/>
            <a:ext cx="256032" cy="256032"/>
          </a:xfrm>
          <a:prstGeom prst="rect">
            <a:avLst/>
          </a:prstGeom>
        </p:spPr>
      </p:pic>
      <p:sp>
        <p:nvSpPr>
          <p:cNvPr id="31" name="Future heading 6"/>
          <p:cNvSpPr txBox="1"/>
          <p:nvPr/>
        </p:nvSpPr>
        <p:spPr>
          <a:xfrm>
            <a:off x="6720840" y="2953512"/>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Put it online</a:t>
            </a:r>
            <a:endParaRPr lang="en-US" sz="1600" dirty="0"/>
          </a:p>
        </p:txBody>
      </p:sp>
      <p:sp>
        <p:nvSpPr>
          <p:cNvPr id="32" name="Future text 6"/>
          <p:cNvSpPr txBox="1"/>
          <p:nvPr/>
        </p:nvSpPr>
        <p:spPr>
          <a:xfrm>
            <a:off x="6172200" y="3493008"/>
            <a:ext cx="2286000" cy="749808"/>
          </a:xfrm>
          <a:prstGeom prst="rect">
            <a:avLst/>
          </a:prstGeom>
          <a:noFill/>
          <a:ln/>
        </p:spPr>
        <p:txBody>
          <a:bodyPr wrap="square" lIns="0" tIns="0" rIns="0" bIns="0" rtlCol="0" anchor="t"/>
          <a:lstStyle/>
          <a:p>
            <a:pPr indent="0" marL="0">
              <a:buNone/>
            </a:pPr>
            <a:r>
              <a:rPr lang="en-US" sz="1400" dirty="0">
                <a:solidFill>
                  <a:schemeClr val="tx1"/>
                </a:solidFill>
              </a:rPr>
              <a:t>Package with Docker and host it so anyone can open the link.</a:t>
            </a:r>
            <a:endParaRPr lang="en-US" sz="1400" dirty="0"/>
          </a:p>
        </p:txBody>
      </p:sp>
      <p:sp>
        <p:nvSpPr>
          <p:cNvPr id="33" name="Future caption"/>
          <p:cNvSpPr txBox="1"/>
          <p:nvPr/>
        </p:nvSpPr>
        <p:spPr>
          <a:xfrm>
            <a:off x="548640" y="4526280"/>
            <a:ext cx="8046720" cy="228600"/>
          </a:xfrm>
          <a:prstGeom prst="rect">
            <a:avLst/>
          </a:prstGeom>
          <a:noFill/>
          <a:ln/>
        </p:spPr>
        <p:txBody>
          <a:bodyPr wrap="square" lIns="0" tIns="0" rIns="0" bIns="0" rtlCol="0" anchor="ctr"/>
          <a:lstStyle/>
          <a:p>
            <a:pPr indent="0" marL="0">
              <a:buNone/>
            </a:pPr>
            <a:r>
              <a:rPr lang="en-US" sz="1200" i="1" dirty="0">
                <a:solidFill>
                  <a:schemeClr val="tx1"/>
                </a:solidFill>
              </a:rPr>
              <a:t>Ideas for the next version. None of these are built yet.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7680960" cy="1188720"/>
          </a:xfrm>
          <a:prstGeom prst="rect">
            <a:avLst/>
          </a:prstGeom>
          <a:noFill/>
          <a:ln/>
        </p:spPr>
        <p:txBody>
          <a:bodyPr wrap="square" lIns="0" tIns="0" rIns="0" bIns="0" rtlCol="0" anchor="ctr"/>
          <a:lstStyle/>
          <a:p>
            <a:pPr algn="l" indent="0" marL="0">
              <a:buNone/>
            </a:pPr>
            <a:r>
              <a:rPr lang="en-US" sz="5400" b="1" dirty="0">
                <a:solidFill>
                  <a:schemeClr val="bg1"/>
                </a:solidFill>
              </a:rPr>
              <a:t>Thank you</a:t>
            </a:r>
            <a:endParaRPr lang="en-US" sz="5400" dirty="0"/>
          </a:p>
        </p:txBody>
      </p:sp>
      <p:sp>
        <p:nvSpPr>
          <p:cNvPr id="3" name="Text 0"/>
          <p:cNvSpPr/>
          <p:nvPr>
            <p:ph idx="101" type="body" hasCustomPrompt="1"/>
          </p:nvPr>
        </p:nvSpPr>
        <p:spPr>
          <a:xfrm>
            <a:off x="731520" y="2468880"/>
            <a:ext cx="7680960" cy="822960"/>
          </a:xfrm>
          <a:prstGeom prst="rect">
            <a:avLst/>
          </a:prstGeom>
          <a:noFill/>
          <a:ln/>
        </p:spPr>
        <p:txBody>
          <a:bodyPr wrap="square" lIns="0" tIns="0" rIns="0" bIns="0" rtlCol="0" anchor="t"/>
          <a:lstStyle/>
          <a:p>
            <a:pPr algn="l" indent="0" marL="0">
              <a:buNone/>
            </a:pPr>
            <a:r>
              <a:rPr lang="en-US" sz="2000" dirty="0">
                <a:solidFill>
                  <a:schemeClr val="bg2"/>
                </a:solidFill>
              </a:rPr>
              <a:t>Questions? Pick any lab and we will run it live.</a:t>
            </a:r>
            <a:endParaRPr lang="en-US" sz="2000" dirty="0"/>
          </a:p>
        </p:txBody>
      </p:sp>
      <p:sp>
        <p:nvSpPr>
          <p:cNvPr id="4" name="Module 1 badge"/>
          <p:cNvSpPr/>
          <p:nvPr/>
        </p:nvSpPr>
        <p:spPr>
          <a:xfrm>
            <a:off x="731520" y="3840480"/>
            <a:ext cx="640080" cy="640080"/>
          </a:xfrm>
          <a:prstGeom prst="ellipse">
            <a:avLst/>
          </a:prstGeom>
          <a:solidFill>
            <a:schemeClr val="accent1"/>
          </a:solidFill>
          <a:ln w="12700">
            <a:solidFill>
              <a:schemeClr val="accent1"/>
            </a:solidFill>
            <a:prstDash val="solid"/>
          </a:ln>
        </p:spPr>
      </p:sp>
      <p:sp>
        <p:nvSpPr>
          <p:cNvPr id="5" name="M1 label"/>
          <p:cNvSpPr txBox="1"/>
          <p:nvPr/>
        </p:nvSpPr>
        <p:spPr>
          <a:xfrm>
            <a:off x="731520" y="38404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M1</a:t>
            </a:r>
            <a:endParaRPr lang="en-US" sz="1600" dirty="0"/>
          </a:p>
        </p:txBody>
      </p:sp>
      <p:sp>
        <p:nvSpPr>
          <p:cNvPr id="6" name="Module 2 badge"/>
          <p:cNvSpPr/>
          <p:nvPr/>
        </p:nvSpPr>
        <p:spPr>
          <a:xfrm>
            <a:off x="1600200" y="3840480"/>
            <a:ext cx="640080" cy="640080"/>
          </a:xfrm>
          <a:prstGeom prst="ellipse">
            <a:avLst/>
          </a:prstGeom>
          <a:solidFill>
            <a:schemeClr val="accent2"/>
          </a:solidFill>
          <a:ln w="12700">
            <a:solidFill>
              <a:schemeClr val="accent2"/>
            </a:solidFill>
            <a:prstDash val="solid"/>
          </a:ln>
        </p:spPr>
      </p:sp>
      <p:sp>
        <p:nvSpPr>
          <p:cNvPr id="7" name="M2 label"/>
          <p:cNvSpPr txBox="1"/>
          <p:nvPr/>
        </p:nvSpPr>
        <p:spPr>
          <a:xfrm>
            <a:off x="1600200" y="3840480"/>
            <a:ext cx="640080" cy="640080"/>
          </a:xfrm>
          <a:prstGeom prst="rect">
            <a:avLst/>
          </a:prstGeom>
          <a:noFill/>
          <a:ln/>
        </p:spPr>
        <p:txBody>
          <a:bodyPr wrap="square" lIns="0" tIns="0" rIns="0" bIns="0" rtlCol="0" anchor="ctr"/>
          <a:lstStyle/>
          <a:p>
            <a:pPr algn="ctr" indent="0" marL="0">
              <a:buNone/>
            </a:pPr>
            <a:r>
              <a:rPr lang="en-US" sz="1600" b="1" dirty="0">
                <a:solidFill>
                  <a:schemeClr val="tx1"/>
                </a:solidFill>
              </a:rPr>
              <a:t>M2</a:t>
            </a:r>
            <a:endParaRPr lang="en-US" sz="1600" dirty="0"/>
          </a:p>
        </p:txBody>
      </p:sp>
      <p:sp>
        <p:nvSpPr>
          <p:cNvPr id="8" name="Module 3 badge"/>
          <p:cNvSpPr/>
          <p:nvPr/>
        </p:nvSpPr>
        <p:spPr>
          <a:xfrm>
            <a:off x="2468880" y="3840480"/>
            <a:ext cx="640080" cy="640080"/>
          </a:xfrm>
          <a:prstGeom prst="ellipse">
            <a:avLst/>
          </a:prstGeom>
          <a:solidFill>
            <a:schemeClr val="accent3"/>
          </a:solidFill>
          <a:ln w="12700">
            <a:solidFill>
              <a:schemeClr val="accent3"/>
            </a:solidFill>
            <a:prstDash val="solid"/>
          </a:ln>
        </p:spPr>
      </p:sp>
      <p:sp>
        <p:nvSpPr>
          <p:cNvPr id="9" name="M3 label"/>
          <p:cNvSpPr txBox="1"/>
          <p:nvPr/>
        </p:nvSpPr>
        <p:spPr>
          <a:xfrm>
            <a:off x="2468880" y="38404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M3</a:t>
            </a:r>
            <a:endParaRPr lang="en-US" sz="1600" dirty="0"/>
          </a:p>
        </p:txBody>
      </p:sp>
      <p:sp>
        <p:nvSpPr>
          <p:cNvPr id="10" name="Module 4 badge"/>
          <p:cNvSpPr/>
          <p:nvPr/>
        </p:nvSpPr>
        <p:spPr>
          <a:xfrm>
            <a:off x="3337560" y="3840480"/>
            <a:ext cx="640080" cy="640080"/>
          </a:xfrm>
          <a:prstGeom prst="ellipse">
            <a:avLst/>
          </a:prstGeom>
          <a:solidFill>
            <a:schemeClr val="accent4"/>
          </a:solidFill>
          <a:ln w="12700">
            <a:solidFill>
              <a:schemeClr val="accent4"/>
            </a:solidFill>
            <a:prstDash val="solid"/>
          </a:ln>
        </p:spPr>
      </p:sp>
      <p:sp>
        <p:nvSpPr>
          <p:cNvPr id="11" name="M4 label"/>
          <p:cNvSpPr txBox="1"/>
          <p:nvPr/>
        </p:nvSpPr>
        <p:spPr>
          <a:xfrm>
            <a:off x="3337560" y="38404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M4</a:t>
            </a:r>
            <a:endParaRPr lang="en-US" sz="1600" dirty="0"/>
          </a:p>
        </p:txBody>
      </p:sp>
      <p:sp>
        <p:nvSpPr>
          <p:cNvPr id="12" name="Module 5 badge"/>
          <p:cNvSpPr/>
          <p:nvPr/>
        </p:nvSpPr>
        <p:spPr>
          <a:xfrm>
            <a:off x="4206240" y="3840480"/>
            <a:ext cx="640080" cy="640080"/>
          </a:xfrm>
          <a:prstGeom prst="ellipse">
            <a:avLst/>
          </a:prstGeom>
          <a:solidFill>
            <a:schemeClr val="accent5"/>
          </a:solidFill>
          <a:ln w="12700">
            <a:solidFill>
              <a:schemeClr val="accent5"/>
            </a:solidFill>
            <a:prstDash val="solid"/>
          </a:ln>
        </p:spPr>
      </p:sp>
      <p:sp>
        <p:nvSpPr>
          <p:cNvPr id="13" name="M5 label"/>
          <p:cNvSpPr txBox="1"/>
          <p:nvPr/>
        </p:nvSpPr>
        <p:spPr>
          <a:xfrm>
            <a:off x="4206240" y="38404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M5</a:t>
            </a:r>
            <a:endParaRPr lang="en-US" sz="1600" dirty="0"/>
          </a:p>
        </p:txBody>
      </p:sp>
      <p:sp>
        <p:nvSpPr>
          <p:cNvPr id="14" name="Module 6 badge"/>
          <p:cNvSpPr/>
          <p:nvPr/>
        </p:nvSpPr>
        <p:spPr>
          <a:xfrm>
            <a:off x="5074920" y="3840480"/>
            <a:ext cx="640080" cy="640080"/>
          </a:xfrm>
          <a:prstGeom prst="ellipse">
            <a:avLst/>
          </a:prstGeom>
          <a:solidFill>
            <a:schemeClr val="accent6"/>
          </a:solidFill>
          <a:ln w="12700">
            <a:solidFill>
              <a:schemeClr val="accent6"/>
            </a:solidFill>
            <a:prstDash val="solid"/>
          </a:ln>
        </p:spPr>
      </p:sp>
      <p:sp>
        <p:nvSpPr>
          <p:cNvPr id="15" name="M6 label"/>
          <p:cNvSpPr txBox="1"/>
          <p:nvPr/>
        </p:nvSpPr>
        <p:spPr>
          <a:xfrm>
            <a:off x="5074920" y="38404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M6</a:t>
            </a:r>
            <a:endParaRPr lang="en-US" sz="1600" dirty="0"/>
          </a:p>
        </p:txBody>
      </p:sp>
    </p:spTree>
  </p:cSld>
  <p:clrMapOvr>
    <a:masterClrMapping/>
  </p:clrMapOvr>
</p:sld>
</file>

<file path=ppt/theme/theme1.xml><?xml version="1.0" encoding="utf-8"?>
<a:theme xmlns:a="http://schemas.openxmlformats.org/drawingml/2006/main" name="AgriFlow">
  <a:themeElements>
    <a:clrScheme name="AgriFlow">
      <a:dk1>
        <a:srgbClr val="1B2B21"/>
      </a:dk1>
      <a:lt1>
        <a:srgbClr val="FFFFFF"/>
      </a:lt1>
      <a:dk2>
        <a:srgbClr val="14432F"/>
      </a:dk2>
      <a:lt2>
        <a:srgbClr val="EEF5E9"/>
      </a:lt2>
      <a:accent1>
        <a:srgbClr val="2F7D3A"/>
      </a:accent1>
      <a:accent2>
        <a:srgbClr val="F2B134"/>
      </a:accent2>
      <a:accent3>
        <a:srgbClr val="2B6F94"/>
      </a:accent3>
      <a:accent4>
        <a:srgbClr val="C2553A"/>
      </a:accent4>
      <a:accent5>
        <a:srgbClr val="6B8E23"/>
      </a:accent5>
      <a:accent6>
        <a:srgbClr val="7A5C99"/>
      </a:accent6>
      <a:hlink>
        <a:srgbClr val="2B6F94"/>
      </a:hlink>
      <a:folHlink>
        <a:srgbClr val="7A5C99"/>
      </a:folHlink>
    </a:clrScheme>
    <a:fontScheme name="AgriFlo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AgriFlow - Advanced Algorithms, Made Interactive</dc:title>
  <dc:subject>PptxGenJS Presentation</dc:subject>
  <dc:creator>PptxGenJS</dc:creator>
  <cp:lastModifiedBy>PptxGenJS</cp:lastModifiedBy>
  <cp:revision>1</cp:revision>
  <dcterms:created xsi:type="dcterms:W3CDTF">2026-10-16T06:22:30Z</dcterms:created>
  <dcterms:modified xsi:type="dcterms:W3CDTF">2026-10-16T06:22:30Z</dcterms:modified>
</cp:coreProperties>
</file>